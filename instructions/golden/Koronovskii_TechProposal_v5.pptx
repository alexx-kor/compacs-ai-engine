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365760" y="252906"/>
            <a:ext cx="8412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0EA5E9"/>
                </a:solidFill>
              </a:defRPr>
            </a:lvl1pPr>
          </a:lstStyle>
          <a:p>
            <a:pPr/>
            <a:r>
              <a:t>Dynamics Scientific · 2026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365760" y="826159"/>
            <a:ext cx="8412480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AI-агент для системы КОМПАКС®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365760" y="1717986"/>
            <a:ext cx="841248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94A3B8"/>
                </a:solidFill>
              </a:defRPr>
            </a:lvl1pPr>
          </a:lstStyle>
          <a:p>
            <a:pPr/>
            <a:r>
              <a:t>Векторная база  ·  MCP-интерфейс  ·  Диалоговый и голосовой ввод</a:t>
            </a:r>
          </a:p>
        </p:txBody>
      </p:sp>
      <p:sp>
        <p:nvSpPr>
          <p:cNvPr id="24" name="Shape 4"/>
          <p:cNvSpPr/>
          <p:nvPr/>
        </p:nvSpPr>
        <p:spPr>
          <a:xfrm>
            <a:off x="320040" y="2240279"/>
            <a:ext cx="4114801" cy="2468882"/>
          </a:xfrm>
          <a:prstGeom prst="rect">
            <a:avLst/>
          </a:prstGeom>
          <a:solidFill>
            <a:srgbClr val="132030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320040" y="2240279"/>
            <a:ext cx="4114801" cy="5486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530351" y="2365056"/>
            <a:ext cx="369417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  Векторная база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30351" y="3443908"/>
            <a:ext cx="3694176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Агент отвечает на вопросы по документации КОМПАКС® через поиск по векторной базе документов</a:t>
            </a:r>
          </a:p>
        </p:txBody>
      </p:sp>
      <p:sp>
        <p:nvSpPr>
          <p:cNvPr id="28" name="Shape 8"/>
          <p:cNvSpPr/>
          <p:nvPr/>
        </p:nvSpPr>
        <p:spPr>
          <a:xfrm>
            <a:off x="4709159" y="2240279"/>
            <a:ext cx="4114801" cy="2468882"/>
          </a:xfrm>
          <a:prstGeom prst="rect">
            <a:avLst/>
          </a:prstGeom>
          <a:solidFill>
            <a:srgbClr val="132030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4709159" y="2240279"/>
            <a:ext cx="4114801" cy="54865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4919472" y="2365056"/>
            <a:ext cx="369417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  MCP-инструменты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4919472" y="3443908"/>
            <a:ext cx="3694176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Агент выполняет операции и получает данные системы через MCP-интерфейс с ролевым контролем доступа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365760" y="4754879"/>
            <a:ext cx="841248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v4.0 · Векторная база + MCP · без реалтайм-модуля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Чего не хватает в текущей системе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39" name="Shape 5"/>
          <p:cNvSpPr/>
          <p:nvPr/>
        </p:nvSpPr>
        <p:spPr>
          <a:xfrm>
            <a:off x="182879" y="594359"/>
            <a:ext cx="2807210" cy="3931922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6"/>
          <p:cNvSpPr/>
          <p:nvPr/>
        </p:nvSpPr>
        <p:spPr>
          <a:xfrm>
            <a:off x="182879" y="594359"/>
            <a:ext cx="2807210" cy="41148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7"/>
          <p:cNvSpPr txBox="1"/>
          <p:nvPr/>
        </p:nvSpPr>
        <p:spPr>
          <a:xfrm>
            <a:off x="338327" y="640080"/>
            <a:ext cx="2496314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💬  </a:t>
            </a:r>
            <a:r>
              <a:t>Нет диалогового интерфейса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338327" y="2217596"/>
            <a:ext cx="2496314" cy="105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Оператор ищет ответы в PDF-документации вручную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Нет возможности задать вопрос в свободной форме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Нет голосового ввода для работы в поле</a:t>
            </a:r>
          </a:p>
        </p:txBody>
      </p:sp>
      <p:sp>
        <p:nvSpPr>
          <p:cNvPr id="43" name="Shape 9"/>
          <p:cNvSpPr/>
          <p:nvPr/>
        </p:nvSpPr>
        <p:spPr>
          <a:xfrm>
            <a:off x="3172967" y="594359"/>
            <a:ext cx="2807210" cy="3931922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10"/>
          <p:cNvSpPr/>
          <p:nvPr/>
        </p:nvSpPr>
        <p:spPr>
          <a:xfrm>
            <a:off x="3172967" y="594359"/>
            <a:ext cx="2807210" cy="41148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1"/>
          <p:cNvSpPr txBox="1"/>
          <p:nvPr/>
        </p:nvSpPr>
        <p:spPr>
          <a:xfrm>
            <a:off x="3328416" y="557529"/>
            <a:ext cx="2496313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📚  </a:t>
            </a:r>
            <a:r>
              <a:t>Нет доступа к документации из системы</a:t>
            </a:r>
          </a:p>
        </p:txBody>
      </p:sp>
      <p:sp>
        <p:nvSpPr>
          <p:cNvPr id="46" name="Text 12"/>
          <p:cNvSpPr txBox="1"/>
          <p:nvPr/>
        </p:nvSpPr>
        <p:spPr>
          <a:xfrm>
            <a:off x="3328416" y="2217596"/>
            <a:ext cx="2496313" cy="105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Поиск по руководствам — ручной, медленный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Ответы зависят от опыта конкретного специалиста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Нет контекстной подсказки при работе с агрегатом</a:t>
            </a:r>
          </a:p>
        </p:txBody>
      </p:sp>
      <p:sp>
        <p:nvSpPr>
          <p:cNvPr id="47" name="Shape 13"/>
          <p:cNvSpPr/>
          <p:nvPr/>
        </p:nvSpPr>
        <p:spPr>
          <a:xfrm>
            <a:off x="6163055" y="594359"/>
            <a:ext cx="2807210" cy="3931922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4"/>
          <p:cNvSpPr/>
          <p:nvPr/>
        </p:nvSpPr>
        <p:spPr>
          <a:xfrm>
            <a:off x="6163055" y="594359"/>
            <a:ext cx="2807210" cy="41148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5"/>
          <p:cNvSpPr txBox="1"/>
          <p:nvPr/>
        </p:nvSpPr>
        <p:spPr>
          <a:xfrm>
            <a:off x="6318504" y="640080"/>
            <a:ext cx="2496313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🔧  </a:t>
            </a:r>
            <a:r>
              <a:t>Нет агентного управления</a:t>
            </a:r>
          </a:p>
        </p:txBody>
      </p:sp>
      <p:sp>
        <p:nvSpPr>
          <p:cNvPr id="50" name="Text 16"/>
          <p:cNvSpPr txBox="1"/>
          <p:nvPr/>
        </p:nvSpPr>
        <p:spPr>
          <a:xfrm>
            <a:off x="6318504" y="2135046"/>
            <a:ext cx="2496313" cy="1216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Нельзя попросить систему выполнить действие текстом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Нет маршрутизации запроса к нужному модулю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333333"/>
                </a:solidFill>
              </a:defRPr>
            </a:pPr>
            <a:r>
              <a:t>Нет связи между запросами пользователя и функционалом системы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5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Цели и задачи</a:t>
            </a:r>
          </a:p>
        </p:txBody>
      </p:sp>
      <p:sp>
        <p:nvSpPr>
          <p:cNvPr id="56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57" name="Shape 5"/>
          <p:cNvSpPr/>
          <p:nvPr/>
        </p:nvSpPr>
        <p:spPr>
          <a:xfrm>
            <a:off x="182879" y="594359"/>
            <a:ext cx="8778242" cy="38404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6"/>
          <p:cNvSpPr txBox="1"/>
          <p:nvPr/>
        </p:nvSpPr>
        <p:spPr>
          <a:xfrm>
            <a:off x="365760" y="657283"/>
            <a:ext cx="841248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ЦЕЛЬ 1 — Векторная база: агент отвечает на вопросы по документации КОМПАКС®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365760" y="1390572"/>
            <a:ext cx="8412480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Разметить и проиндексировать документацию КОМПАКС 7 по ролевым модулям (Оператор / Механик / Диагност / Инженер)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Реализовать retrieval-пайплайн: chunk_size=2000, overlap=150, ребаранкинг semantic 60% + keyword 40%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Сформировать Golden Set — 28 эталонных пар вопрос/ответ для измерения качества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Достичь: оценка LLM-судьи ≥ 4.0/5.0 на Golden Set  ·  Faithfulness ≥ 0.85</a:t>
            </a:r>
          </a:p>
        </p:txBody>
      </p:sp>
      <p:sp>
        <p:nvSpPr>
          <p:cNvPr id="60" name="Shape 8"/>
          <p:cNvSpPr/>
          <p:nvPr/>
        </p:nvSpPr>
        <p:spPr>
          <a:xfrm>
            <a:off x="182879" y="2578607"/>
            <a:ext cx="8778242" cy="38404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9"/>
          <p:cNvSpPr txBox="1"/>
          <p:nvPr/>
        </p:nvSpPr>
        <p:spPr>
          <a:xfrm>
            <a:off x="365760" y="2641530"/>
            <a:ext cx="841248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ЦЕЛЬ 2 — MCP-инструменты: агент выполняет операции и получает данные КОМПАКС®</a:t>
            </a:r>
          </a:p>
        </p:txBody>
      </p:sp>
      <p:sp>
        <p:nvSpPr>
          <p:cNvPr id="62" name="Text 10"/>
          <p:cNvSpPr txBox="1"/>
          <p:nvPr/>
        </p:nvSpPr>
        <p:spPr>
          <a:xfrm>
            <a:off x="365760" y="3374820"/>
            <a:ext cx="8412480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Реализовать MCP-сервер: каталог /tools (операции) и /resources (данные и документация)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Внедрить ролевую аутентификацию через механизм КОМПАКС 7 — каждая роль видит свои инструменты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Реализовать накопительную модель доступа к базе знаний (Механик видит базу Оператора + свою)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111111"/>
                </a:solidFill>
              </a:defRPr>
            </a:pPr>
            <a:r>
              <a:t>Пройти функциональные испытания + тест ролевой изоляции</a:t>
            </a:r>
          </a:p>
        </p:txBody>
      </p:sp>
      <p:sp>
        <p:nvSpPr>
          <p:cNvPr id="63" name="Shape 11"/>
          <p:cNvSpPr/>
          <p:nvPr/>
        </p:nvSpPr>
        <p:spPr>
          <a:xfrm>
            <a:off x="182879" y="4572000"/>
            <a:ext cx="8778242" cy="292609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2"/>
          <p:cNvSpPr txBox="1"/>
          <p:nvPr/>
        </p:nvSpPr>
        <p:spPr>
          <a:xfrm>
            <a:off x="320040" y="4605449"/>
            <a:ext cx="850392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DC2626"/>
                </a:solidFill>
              </a:defRPr>
            </a:lvl1pPr>
          </a:lstStyle>
          <a:p>
            <a:pPr/>
            <a:r>
              <a:t>Условие перехода к Цели 2: LLM-судья ≥ 4.0/5.0 на утверждённом Golden 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9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MCP-сервер: место в архитектуре</a:t>
            </a:r>
          </a:p>
        </p:txBody>
      </p:sp>
      <p:sp>
        <p:nvSpPr>
          <p:cNvPr id="70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71" name="Text 5"/>
          <p:cNvSpPr txBox="1"/>
          <p:nvPr/>
        </p:nvSpPr>
        <p:spPr>
          <a:xfrm>
            <a:off x="228599" y="598985"/>
            <a:ext cx="868680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11111"/>
                </a:solidFill>
              </a:defRPr>
            </a:lvl1pPr>
          </a:lstStyle>
          <a:p>
            <a:pPr/>
            <a:r>
              <a:t>MCP — Model Context Protocol — протокол экспозиции инструментов для LLM-агента. MCP-сервер — компонент, НЕ конечный продукт.</a:t>
            </a:r>
          </a:p>
        </p:txBody>
      </p:sp>
      <p:graphicFrame>
        <p:nvGraphicFramePr>
          <p:cNvPr id="72" name="Table 0"/>
          <p:cNvGraphicFramePr/>
          <p:nvPr/>
        </p:nvGraphicFramePr>
        <p:xfrm>
          <a:off x="182879" y="1188719"/>
          <a:ext cx="8778242" cy="150876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1828800"/>
                <a:gridCol w="420624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Этап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MCP нужен?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Что требуется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1B3A6B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Цель 1 — Векторная база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DC2626"/>
                          </a:solidFill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✗ </a:t>
                      </a:r>
                      <a:r>
                        <a:t>Не требуется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Retrieval-пайплайн + LLM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Цель 2 — КОМПАКС® API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16A34A"/>
                          </a:solidFill>
                        </a:defRPr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✓ </a:t>
                      </a:r>
                      <a:r>
                        <a:t>Реализуется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Слой вызова инструментов /tools /resources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контур базы знаний: архитектура и параметры</a:t>
            </a:r>
          </a:p>
        </p:txBody>
      </p:sp>
      <p:sp>
        <p:nvSpPr>
          <p:cNvPr id="78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79" name="Shape 5"/>
          <p:cNvSpPr/>
          <p:nvPr/>
        </p:nvSpPr>
        <p:spPr>
          <a:xfrm>
            <a:off x="137159" y="594359"/>
            <a:ext cx="1508762" cy="68580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6"/>
          <p:cNvSpPr txBox="1"/>
          <p:nvPr/>
        </p:nvSpPr>
        <p:spPr>
          <a:xfrm>
            <a:off x="182879" y="764453"/>
            <a:ext cx="141732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Документация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КОМПАКС®</a:t>
            </a:r>
          </a:p>
        </p:txBody>
      </p:sp>
      <p:sp>
        <p:nvSpPr>
          <p:cNvPr id="81" name="Shape 7"/>
          <p:cNvSpPr/>
          <p:nvPr/>
        </p:nvSpPr>
        <p:spPr>
          <a:xfrm>
            <a:off x="1645920" y="932688"/>
            <a:ext cx="24688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8"/>
          <p:cNvSpPr/>
          <p:nvPr/>
        </p:nvSpPr>
        <p:spPr>
          <a:xfrm>
            <a:off x="1892807" y="594359"/>
            <a:ext cx="1508761" cy="68580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9"/>
          <p:cNvSpPr txBox="1"/>
          <p:nvPr/>
        </p:nvSpPr>
        <p:spPr>
          <a:xfrm>
            <a:off x="1938527" y="764453"/>
            <a:ext cx="14173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Чанкинг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+ разметка</a:t>
            </a:r>
          </a:p>
        </p:txBody>
      </p:sp>
      <p:sp>
        <p:nvSpPr>
          <p:cNvPr id="84" name="Shape 10"/>
          <p:cNvSpPr/>
          <p:nvPr/>
        </p:nvSpPr>
        <p:spPr>
          <a:xfrm>
            <a:off x="3401567" y="932688"/>
            <a:ext cx="24688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11"/>
          <p:cNvSpPr/>
          <p:nvPr/>
        </p:nvSpPr>
        <p:spPr>
          <a:xfrm>
            <a:off x="3648455" y="594359"/>
            <a:ext cx="1508762" cy="68580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2"/>
          <p:cNvSpPr txBox="1"/>
          <p:nvPr/>
        </p:nvSpPr>
        <p:spPr>
          <a:xfrm>
            <a:off x="3694176" y="764453"/>
            <a:ext cx="14173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Embedding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nomic-embed</a:t>
            </a:r>
          </a:p>
        </p:txBody>
      </p:sp>
      <p:sp>
        <p:nvSpPr>
          <p:cNvPr id="87" name="Shape 13"/>
          <p:cNvSpPr/>
          <p:nvPr/>
        </p:nvSpPr>
        <p:spPr>
          <a:xfrm>
            <a:off x="5157215" y="932688"/>
            <a:ext cx="24688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4"/>
          <p:cNvSpPr/>
          <p:nvPr/>
        </p:nvSpPr>
        <p:spPr>
          <a:xfrm>
            <a:off x="5404103" y="594359"/>
            <a:ext cx="1508761" cy="68580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5"/>
          <p:cNvSpPr txBox="1"/>
          <p:nvPr/>
        </p:nvSpPr>
        <p:spPr>
          <a:xfrm>
            <a:off x="5449823" y="764453"/>
            <a:ext cx="141732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ClickHouse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векторная БД</a:t>
            </a:r>
          </a:p>
        </p:txBody>
      </p:sp>
      <p:sp>
        <p:nvSpPr>
          <p:cNvPr id="90" name="Shape 16"/>
          <p:cNvSpPr/>
          <p:nvPr/>
        </p:nvSpPr>
        <p:spPr>
          <a:xfrm>
            <a:off x="6912864" y="932688"/>
            <a:ext cx="24688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7"/>
          <p:cNvSpPr/>
          <p:nvPr/>
        </p:nvSpPr>
        <p:spPr>
          <a:xfrm>
            <a:off x="7159752" y="594359"/>
            <a:ext cx="1508761" cy="68580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8"/>
          <p:cNvSpPr txBox="1"/>
          <p:nvPr/>
        </p:nvSpPr>
        <p:spPr>
          <a:xfrm>
            <a:off x="7205471" y="764453"/>
            <a:ext cx="141732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FFFFFF"/>
                </a:solidFill>
              </a:defRPr>
            </a:pPr>
            <a:r>
              <a:t>LLM</a:t>
            </a:r>
          </a:p>
          <a:p>
            <a:pPr algn="ctr">
              <a:defRPr b="1" sz="900">
                <a:solidFill>
                  <a:srgbClr val="FFFFFF"/>
                </a:solidFill>
              </a:defRPr>
            </a:pPr>
            <a:r>
              <a:t>генерация</a:t>
            </a:r>
          </a:p>
        </p:txBody>
      </p:sp>
      <p:sp>
        <p:nvSpPr>
          <p:cNvPr id="93" name="Shape 19"/>
          <p:cNvSpPr/>
          <p:nvPr/>
        </p:nvSpPr>
        <p:spPr>
          <a:xfrm>
            <a:off x="182880" y="1417319"/>
            <a:ext cx="4251960" cy="32461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20"/>
          <p:cNvSpPr txBox="1"/>
          <p:nvPr/>
        </p:nvSpPr>
        <p:spPr>
          <a:xfrm>
            <a:off x="365759" y="1549199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Параметры реализации</a:t>
            </a:r>
          </a:p>
        </p:txBody>
      </p:sp>
      <p:sp>
        <p:nvSpPr>
          <p:cNvPr id="95" name="Text 21"/>
          <p:cNvSpPr txBox="1"/>
          <p:nvPr/>
        </p:nvSpPr>
        <p:spPr>
          <a:xfrm>
            <a:off x="365759" y="2743630"/>
            <a:ext cx="3886201" cy="886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chunk_size = 2000, overlap = 150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top_k = 8 (retrieval) → 3 (ребаранкинг)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Ребаранкинг: semantic 60% + keyword 40%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LLM: Ollama llama3.2:3b / llama3.1:8b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Embedding: nomic-embed-text, 768 dim</a:t>
            </a:r>
          </a:p>
        </p:txBody>
      </p:sp>
      <p:sp>
        <p:nvSpPr>
          <p:cNvPr id="96" name="Shape 22"/>
          <p:cNvSpPr/>
          <p:nvPr/>
        </p:nvSpPr>
        <p:spPr>
          <a:xfrm>
            <a:off x="4617720" y="1417319"/>
            <a:ext cx="4343401" cy="32461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3"/>
          <p:cNvSpPr txBox="1"/>
          <p:nvPr/>
        </p:nvSpPr>
        <p:spPr>
          <a:xfrm>
            <a:off x="4800600" y="1549199"/>
            <a:ext cx="39776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Метрики качества</a:t>
            </a:r>
          </a:p>
        </p:txBody>
      </p:sp>
      <p:sp>
        <p:nvSpPr>
          <p:cNvPr id="98" name="Text 24"/>
          <p:cNvSpPr txBox="1"/>
          <p:nvPr/>
        </p:nvSpPr>
        <p:spPr>
          <a:xfrm>
            <a:off x="4800600" y="2826180"/>
            <a:ext cx="3977640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Precision@k — точность top-k чанков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MRR — Mean Reciprocal Rank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Faithfulness ≥ 0.85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LLM-судья ≥ 4.0/5.0 на Golden 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Примеры верных ответов агента — сравнение с Golden Set</a:t>
            </a:r>
          </a:p>
        </p:txBody>
      </p:sp>
      <p:sp>
        <p:nvSpPr>
          <p:cNvPr id="104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105" name="Shape 5"/>
          <p:cNvSpPr/>
          <p:nvPr/>
        </p:nvSpPr>
        <p:spPr>
          <a:xfrm>
            <a:off x="182879" y="594359"/>
            <a:ext cx="8778242" cy="1353314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Shape 6"/>
          <p:cNvSpPr/>
          <p:nvPr/>
        </p:nvSpPr>
        <p:spPr>
          <a:xfrm>
            <a:off x="182879" y="594359"/>
            <a:ext cx="640082" cy="31089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7"/>
          <p:cNvSpPr txBox="1"/>
          <p:nvPr/>
        </p:nvSpPr>
        <p:spPr>
          <a:xfrm>
            <a:off x="228599" y="635552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ID 11</a:t>
            </a:r>
          </a:p>
        </p:txBody>
      </p:sp>
      <p:sp>
        <p:nvSpPr>
          <p:cNvPr id="108" name="Shape 8"/>
          <p:cNvSpPr/>
          <p:nvPr/>
        </p:nvSpPr>
        <p:spPr>
          <a:xfrm>
            <a:off x="7955280" y="594359"/>
            <a:ext cx="1005840" cy="31089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9"/>
          <p:cNvSpPr txBox="1"/>
          <p:nvPr/>
        </p:nvSpPr>
        <p:spPr>
          <a:xfrm>
            <a:off x="8001000" y="625407"/>
            <a:ext cx="91440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ВЕРНО</a:t>
            </a:r>
          </a:p>
        </p:txBody>
      </p:sp>
      <p:sp>
        <p:nvSpPr>
          <p:cNvPr id="110" name="Text 10"/>
          <p:cNvSpPr txBox="1"/>
          <p:nvPr/>
        </p:nvSpPr>
        <p:spPr>
          <a:xfrm>
            <a:off x="941832" y="672128"/>
            <a:ext cx="69037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B3A6B"/>
                </a:solidFill>
              </a:defRPr>
            </a:lvl1pPr>
          </a:lstStyle>
          <a:p>
            <a:pPr/>
            <a:r>
              <a:t>В DBeaver с DuckDB какие два SQL-оператора нужно выполнить перед запросами с iceberg_scan()?</a:t>
            </a:r>
          </a:p>
        </p:txBody>
      </p:sp>
      <p:sp>
        <p:nvSpPr>
          <p:cNvPr id="111" name="Shape 11"/>
          <p:cNvSpPr/>
          <p:nvPr/>
        </p:nvSpPr>
        <p:spPr>
          <a:xfrm>
            <a:off x="228599" y="978408"/>
            <a:ext cx="4160522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2"/>
          <p:cNvSpPr txBox="1"/>
          <p:nvPr/>
        </p:nvSpPr>
        <p:spPr>
          <a:xfrm>
            <a:off x="365759" y="994323"/>
            <a:ext cx="3886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13" name="Text 13"/>
          <p:cNvSpPr txBox="1"/>
          <p:nvPr/>
        </p:nvSpPr>
        <p:spPr>
          <a:xfrm>
            <a:off x="365759" y="1279950"/>
            <a:ext cx="38862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11111"/>
                </a:solidFill>
              </a:defRPr>
            </a:pPr>
            <a:r>
              <a:t>INSTALL iceberg;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t>LOAD iceberg;</a:t>
            </a:r>
          </a:p>
        </p:txBody>
      </p:sp>
      <p:sp>
        <p:nvSpPr>
          <p:cNvPr id="114" name="Shape 14"/>
          <p:cNvSpPr/>
          <p:nvPr/>
        </p:nvSpPr>
        <p:spPr>
          <a:xfrm>
            <a:off x="4572000" y="978408"/>
            <a:ext cx="4343400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5"/>
          <p:cNvSpPr txBox="1"/>
          <p:nvPr/>
        </p:nvSpPr>
        <p:spPr>
          <a:xfrm>
            <a:off x="4709160" y="994323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Эталон (Golden Set):</a:t>
            </a:r>
          </a:p>
        </p:txBody>
      </p:sp>
      <p:sp>
        <p:nvSpPr>
          <p:cNvPr id="116" name="Text 16"/>
          <p:cNvSpPr txBox="1"/>
          <p:nvPr/>
        </p:nvSpPr>
        <p:spPr>
          <a:xfrm>
            <a:off x="4709160" y="1362500"/>
            <a:ext cx="4069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6A34A"/>
                </a:solidFill>
              </a:defRPr>
            </a:lvl1pPr>
          </a:lstStyle>
          <a:p>
            <a:pPr/>
            <a:r>
              <a:t>INSTALL iceberg; LOAD iceberg;</a:t>
            </a:r>
          </a:p>
        </p:txBody>
      </p:sp>
      <p:sp>
        <p:nvSpPr>
          <p:cNvPr id="117" name="Text 17"/>
          <p:cNvSpPr txBox="1"/>
          <p:nvPr/>
        </p:nvSpPr>
        <p:spPr>
          <a:xfrm>
            <a:off x="274320" y="1794799"/>
            <a:ext cx="859536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Источник: Инструкция_программная_№0002</a:t>
            </a:r>
          </a:p>
        </p:txBody>
      </p:sp>
      <p:sp>
        <p:nvSpPr>
          <p:cNvPr id="118" name="Shape 18"/>
          <p:cNvSpPr/>
          <p:nvPr/>
        </p:nvSpPr>
        <p:spPr>
          <a:xfrm>
            <a:off x="182879" y="2057400"/>
            <a:ext cx="8778242" cy="1353313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19"/>
          <p:cNvSpPr/>
          <p:nvPr/>
        </p:nvSpPr>
        <p:spPr>
          <a:xfrm>
            <a:off x="182879" y="2057400"/>
            <a:ext cx="640082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20"/>
          <p:cNvSpPr txBox="1"/>
          <p:nvPr/>
        </p:nvSpPr>
        <p:spPr>
          <a:xfrm>
            <a:off x="228599" y="2098592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ID 20</a:t>
            </a:r>
          </a:p>
        </p:txBody>
      </p:sp>
      <p:sp>
        <p:nvSpPr>
          <p:cNvPr id="121" name="Shape 21"/>
          <p:cNvSpPr/>
          <p:nvPr/>
        </p:nvSpPr>
        <p:spPr>
          <a:xfrm>
            <a:off x="7955280" y="2057400"/>
            <a:ext cx="100584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2"/>
          <p:cNvSpPr txBox="1"/>
          <p:nvPr/>
        </p:nvSpPr>
        <p:spPr>
          <a:xfrm>
            <a:off x="8001000" y="2088447"/>
            <a:ext cx="91440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ВЕРНО</a:t>
            </a:r>
          </a:p>
        </p:txBody>
      </p:sp>
      <p:sp>
        <p:nvSpPr>
          <p:cNvPr id="123" name="Text 23"/>
          <p:cNvSpPr txBox="1"/>
          <p:nvPr/>
        </p:nvSpPr>
        <p:spPr>
          <a:xfrm>
            <a:off x="941832" y="2135168"/>
            <a:ext cx="69037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B3A6B"/>
                </a:solidFill>
              </a:defRPr>
            </a:lvl1pPr>
          </a:lstStyle>
          <a:p>
            <a:pPr/>
            <a:r>
              <a:t>Для каких сценариев подключаться по 192.168.5.13, а для каких по 5.32.101.214 при SFTP?</a:t>
            </a:r>
          </a:p>
        </p:txBody>
      </p:sp>
      <p:sp>
        <p:nvSpPr>
          <p:cNvPr id="124" name="Shape 24"/>
          <p:cNvSpPr/>
          <p:nvPr/>
        </p:nvSpPr>
        <p:spPr>
          <a:xfrm>
            <a:off x="228599" y="2441448"/>
            <a:ext cx="4160522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5"/>
          <p:cNvSpPr txBox="1"/>
          <p:nvPr/>
        </p:nvSpPr>
        <p:spPr>
          <a:xfrm>
            <a:off x="365759" y="2457363"/>
            <a:ext cx="38862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26" name="Text 26"/>
          <p:cNvSpPr txBox="1"/>
          <p:nvPr/>
        </p:nvSpPr>
        <p:spPr>
          <a:xfrm>
            <a:off x="365759" y="2742990"/>
            <a:ext cx="388620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111111"/>
                </a:solidFill>
              </a:defRPr>
            </a:pPr>
            <a:r>
              <a:t>192.168.5.13 — из внутренней сети (LAN)</a:t>
            </a:r>
          </a:p>
          <a:p>
            <a:pPr>
              <a:defRPr sz="1000">
                <a:solidFill>
                  <a:srgbClr val="111111"/>
                </a:solidFill>
              </a:defRPr>
            </a:pPr>
            <a:r>
              <a:t>5.32.101.214 — из внешней сети (WAN)</a:t>
            </a:r>
          </a:p>
        </p:txBody>
      </p:sp>
      <p:sp>
        <p:nvSpPr>
          <p:cNvPr id="127" name="Shape 27"/>
          <p:cNvSpPr/>
          <p:nvPr/>
        </p:nvSpPr>
        <p:spPr>
          <a:xfrm>
            <a:off x="4572000" y="2441448"/>
            <a:ext cx="4343400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28"/>
          <p:cNvSpPr txBox="1"/>
          <p:nvPr/>
        </p:nvSpPr>
        <p:spPr>
          <a:xfrm>
            <a:off x="4709160" y="2457363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Эталон (Golden Set):</a:t>
            </a:r>
          </a:p>
        </p:txBody>
      </p:sp>
      <p:sp>
        <p:nvSpPr>
          <p:cNvPr id="129" name="Text 29"/>
          <p:cNvSpPr txBox="1"/>
          <p:nvPr/>
        </p:nvSpPr>
        <p:spPr>
          <a:xfrm>
            <a:off x="4709160" y="2825540"/>
            <a:ext cx="40690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6A34A"/>
                </a:solidFill>
              </a:defRPr>
            </a:lvl1pPr>
          </a:lstStyle>
          <a:p>
            <a:pPr/>
            <a:r>
              <a:t>192.168.5.13 — LAN (внутренняя); 5.32.101.214 — WAN (внешняя)</a:t>
            </a:r>
          </a:p>
        </p:txBody>
      </p:sp>
      <p:sp>
        <p:nvSpPr>
          <p:cNvPr id="130" name="Text 30"/>
          <p:cNvSpPr txBox="1"/>
          <p:nvPr/>
        </p:nvSpPr>
        <p:spPr>
          <a:xfrm>
            <a:off x="274320" y="3257839"/>
            <a:ext cx="859536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Источник: Инструкция_по_настройке_НПЦ_№0012</a:t>
            </a:r>
          </a:p>
        </p:txBody>
      </p:sp>
      <p:sp>
        <p:nvSpPr>
          <p:cNvPr id="131" name="Shape 31"/>
          <p:cNvSpPr/>
          <p:nvPr/>
        </p:nvSpPr>
        <p:spPr>
          <a:xfrm>
            <a:off x="182879" y="3520440"/>
            <a:ext cx="8778242" cy="1353313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32"/>
          <p:cNvSpPr/>
          <p:nvPr/>
        </p:nvSpPr>
        <p:spPr>
          <a:xfrm>
            <a:off x="182879" y="3520440"/>
            <a:ext cx="640082" cy="31089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33"/>
          <p:cNvSpPr txBox="1"/>
          <p:nvPr/>
        </p:nvSpPr>
        <p:spPr>
          <a:xfrm>
            <a:off x="228599" y="3561632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ID 17</a:t>
            </a:r>
          </a:p>
        </p:txBody>
      </p:sp>
      <p:sp>
        <p:nvSpPr>
          <p:cNvPr id="134" name="Shape 34"/>
          <p:cNvSpPr/>
          <p:nvPr/>
        </p:nvSpPr>
        <p:spPr>
          <a:xfrm>
            <a:off x="7955280" y="3520440"/>
            <a:ext cx="1005840" cy="31089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35"/>
          <p:cNvSpPr txBox="1"/>
          <p:nvPr/>
        </p:nvSpPr>
        <p:spPr>
          <a:xfrm>
            <a:off x="8001000" y="3551487"/>
            <a:ext cx="914400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ВЕРНО</a:t>
            </a:r>
          </a:p>
        </p:txBody>
      </p:sp>
      <p:sp>
        <p:nvSpPr>
          <p:cNvPr id="136" name="Text 36"/>
          <p:cNvSpPr txBox="1"/>
          <p:nvPr/>
        </p:nvSpPr>
        <p:spPr>
          <a:xfrm>
            <a:off x="941832" y="3598208"/>
            <a:ext cx="69037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B3A6B"/>
                </a:solidFill>
              </a:defRPr>
            </a:lvl1pPr>
          </a:lstStyle>
          <a:p>
            <a:pPr/>
            <a:r>
              <a:t>Что такое «Code review» согласно положению о разработке ПО?</a:t>
            </a:r>
          </a:p>
        </p:txBody>
      </p:sp>
      <p:sp>
        <p:nvSpPr>
          <p:cNvPr id="137" name="Shape 37"/>
          <p:cNvSpPr/>
          <p:nvPr/>
        </p:nvSpPr>
        <p:spPr>
          <a:xfrm>
            <a:off x="228599" y="3904488"/>
            <a:ext cx="4160522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38"/>
          <p:cNvSpPr txBox="1"/>
          <p:nvPr/>
        </p:nvSpPr>
        <p:spPr>
          <a:xfrm>
            <a:off x="365759" y="3920403"/>
            <a:ext cx="38862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39" name="Text 39"/>
          <p:cNvSpPr txBox="1"/>
          <p:nvPr/>
        </p:nvSpPr>
        <p:spPr>
          <a:xfrm>
            <a:off x="365759" y="4123480"/>
            <a:ext cx="388620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Систематическая проверка исходного кода с целью обнаружения явных несоответствий — оформление, комментарии, переиспользование, интерфейсы.</a:t>
            </a:r>
          </a:p>
        </p:txBody>
      </p:sp>
      <p:sp>
        <p:nvSpPr>
          <p:cNvPr id="140" name="Shape 40"/>
          <p:cNvSpPr/>
          <p:nvPr/>
        </p:nvSpPr>
        <p:spPr>
          <a:xfrm>
            <a:off x="4572000" y="3904488"/>
            <a:ext cx="4343400" cy="8595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41"/>
          <p:cNvSpPr txBox="1"/>
          <p:nvPr/>
        </p:nvSpPr>
        <p:spPr>
          <a:xfrm>
            <a:off x="4709160" y="3920403"/>
            <a:ext cx="4069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Эталон (Golden Set):</a:t>
            </a:r>
          </a:p>
        </p:txBody>
      </p:sp>
      <p:sp>
        <p:nvSpPr>
          <p:cNvPr id="142" name="Text 42"/>
          <p:cNvSpPr txBox="1"/>
          <p:nvPr/>
        </p:nvSpPr>
        <p:spPr>
          <a:xfrm>
            <a:off x="4709160" y="4206030"/>
            <a:ext cx="406908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6A34A"/>
                </a:solidFill>
              </a:defRPr>
            </a:lvl1pPr>
          </a:lstStyle>
          <a:p>
            <a:pPr/>
            <a:r>
              <a:t>Code review — систематическая проверка исходного кода: оформление, комментарии, переиспользование, интерфейсы, ошибки.</a:t>
            </a:r>
          </a:p>
        </p:txBody>
      </p:sp>
      <p:sp>
        <p:nvSpPr>
          <p:cNvPr id="143" name="Text 43"/>
          <p:cNvSpPr txBox="1"/>
          <p:nvPr/>
        </p:nvSpPr>
        <p:spPr>
          <a:xfrm>
            <a:off x="274320" y="4720879"/>
            <a:ext cx="859536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Источник: Положение_ЛНА_№0002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8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Результаты: примеры ответов из Golden Set (28 вопросов)</a:t>
            </a:r>
          </a:p>
        </p:txBody>
      </p:sp>
      <p:sp>
        <p:nvSpPr>
          <p:cNvPr id="149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150" name="Shape 5"/>
          <p:cNvSpPr/>
          <p:nvPr/>
        </p:nvSpPr>
        <p:spPr>
          <a:xfrm>
            <a:off x="182880" y="594359"/>
            <a:ext cx="1920240" cy="914401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6"/>
          <p:cNvSpPr txBox="1"/>
          <p:nvPr/>
        </p:nvSpPr>
        <p:spPr>
          <a:xfrm>
            <a:off x="228600" y="733168"/>
            <a:ext cx="18288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16A34A"/>
                </a:solidFill>
              </a:defRPr>
            </a:lvl1pPr>
          </a:lstStyle>
          <a:p>
            <a:pPr/>
            <a:r>
              <a:t>12 (43%)</a:t>
            </a:r>
          </a:p>
        </p:txBody>
      </p:sp>
      <p:sp>
        <p:nvSpPr>
          <p:cNvPr id="152" name="Text 7"/>
          <p:cNvSpPr txBox="1"/>
          <p:nvPr/>
        </p:nvSpPr>
        <p:spPr>
          <a:xfrm>
            <a:off x="228600" y="1234484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Верно</a:t>
            </a:r>
          </a:p>
        </p:txBody>
      </p:sp>
      <p:sp>
        <p:nvSpPr>
          <p:cNvPr id="153" name="Shape 8"/>
          <p:cNvSpPr/>
          <p:nvPr/>
        </p:nvSpPr>
        <p:spPr>
          <a:xfrm>
            <a:off x="2240279" y="594359"/>
            <a:ext cx="1920241" cy="914401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9"/>
          <p:cNvSpPr txBox="1"/>
          <p:nvPr/>
        </p:nvSpPr>
        <p:spPr>
          <a:xfrm>
            <a:off x="2286000" y="733168"/>
            <a:ext cx="182880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EA580C"/>
                </a:solidFill>
              </a:defRPr>
            </a:lvl1pPr>
          </a:lstStyle>
          <a:p>
            <a:pPr/>
            <a:r>
              <a:t>8 (29%)</a:t>
            </a:r>
          </a:p>
        </p:txBody>
      </p:sp>
      <p:sp>
        <p:nvSpPr>
          <p:cNvPr id="155" name="Text 10"/>
          <p:cNvSpPr txBox="1"/>
          <p:nvPr/>
        </p:nvSpPr>
        <p:spPr>
          <a:xfrm>
            <a:off x="2286000" y="1234484"/>
            <a:ext cx="18288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Частично</a:t>
            </a:r>
          </a:p>
        </p:txBody>
      </p:sp>
      <p:sp>
        <p:nvSpPr>
          <p:cNvPr id="156" name="Shape 11"/>
          <p:cNvSpPr/>
          <p:nvPr/>
        </p:nvSpPr>
        <p:spPr>
          <a:xfrm>
            <a:off x="4297679" y="594359"/>
            <a:ext cx="1920241" cy="914401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2"/>
          <p:cNvSpPr txBox="1"/>
          <p:nvPr/>
        </p:nvSpPr>
        <p:spPr>
          <a:xfrm>
            <a:off x="4343400" y="733168"/>
            <a:ext cx="182880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DC2626"/>
                </a:solidFill>
              </a:defRPr>
            </a:lvl1pPr>
          </a:lstStyle>
          <a:p>
            <a:pPr/>
            <a:r>
              <a:t>8 (29%)</a:t>
            </a:r>
          </a:p>
        </p:txBody>
      </p:sp>
      <p:sp>
        <p:nvSpPr>
          <p:cNvPr id="158" name="Text 13"/>
          <p:cNvSpPr txBox="1"/>
          <p:nvPr/>
        </p:nvSpPr>
        <p:spPr>
          <a:xfrm>
            <a:off x="4343400" y="1234484"/>
            <a:ext cx="18288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Неверно</a:t>
            </a:r>
          </a:p>
        </p:txBody>
      </p:sp>
      <p:sp>
        <p:nvSpPr>
          <p:cNvPr id="159" name="Shape 14"/>
          <p:cNvSpPr/>
          <p:nvPr/>
        </p:nvSpPr>
        <p:spPr>
          <a:xfrm>
            <a:off x="182880" y="1627632"/>
            <a:ext cx="4251960" cy="169164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15"/>
          <p:cNvSpPr/>
          <p:nvPr/>
        </p:nvSpPr>
        <p:spPr>
          <a:xfrm>
            <a:off x="182880" y="1627632"/>
            <a:ext cx="2011679" cy="25603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6"/>
          <p:cNvSpPr txBox="1"/>
          <p:nvPr/>
        </p:nvSpPr>
        <p:spPr>
          <a:xfrm>
            <a:off x="301752" y="1652691"/>
            <a:ext cx="184708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ID 1 — Галлюцинация</a:t>
            </a:r>
          </a:p>
        </p:txBody>
      </p:sp>
      <p:sp>
        <p:nvSpPr>
          <p:cNvPr id="162" name="Shape 17"/>
          <p:cNvSpPr/>
          <p:nvPr/>
        </p:nvSpPr>
        <p:spPr>
          <a:xfrm>
            <a:off x="2331720" y="1627632"/>
            <a:ext cx="2011680" cy="25603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8"/>
          <p:cNvSpPr txBox="1"/>
          <p:nvPr/>
        </p:nvSpPr>
        <p:spPr>
          <a:xfrm>
            <a:off x="2377440" y="1582841"/>
            <a:ext cx="192024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НЕВЕРНО — выдуманные реквизиты</a:t>
            </a:r>
          </a:p>
        </p:txBody>
      </p:sp>
      <p:sp>
        <p:nvSpPr>
          <p:cNvPr id="164" name="Text 19"/>
          <p:cNvSpPr txBox="1"/>
          <p:nvPr/>
        </p:nvSpPr>
        <p:spPr>
          <a:xfrm>
            <a:off x="320040" y="1927011"/>
            <a:ext cx="3977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Вопрос:</a:t>
            </a:r>
          </a:p>
        </p:txBody>
      </p:sp>
      <p:sp>
        <p:nvSpPr>
          <p:cNvPr id="165" name="Text 20"/>
          <p:cNvSpPr txBox="1"/>
          <p:nvPr/>
        </p:nvSpPr>
        <p:spPr>
          <a:xfrm>
            <a:off x="320040" y="2251622"/>
            <a:ext cx="3977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Какой WAN-адрес и учётная запись SFTP для загрузки ZIP-архивов?</a:t>
            </a:r>
          </a:p>
        </p:txBody>
      </p:sp>
      <p:sp>
        <p:nvSpPr>
          <p:cNvPr id="166" name="Text 21"/>
          <p:cNvSpPr txBox="1"/>
          <p:nvPr/>
        </p:nvSpPr>
        <p:spPr>
          <a:xfrm>
            <a:off x="320040" y="2704251"/>
            <a:ext cx="3977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67" name="Text 22"/>
          <p:cNvSpPr txBox="1"/>
          <p:nvPr/>
        </p:nvSpPr>
        <p:spPr>
          <a:xfrm>
            <a:off x="320040" y="2969427"/>
            <a:ext cx="3977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DC2626"/>
                </a:solidFill>
              </a:defRPr>
            </a:lvl1pPr>
          </a:lstStyle>
          <a:p>
            <a:pPr/>
            <a:r>
              <a:t>WAN: 192.168.1.100 / Логин: admin / Пароль: password123</a:t>
            </a:r>
          </a:p>
        </p:txBody>
      </p:sp>
      <p:sp>
        <p:nvSpPr>
          <p:cNvPr id="168" name="Shape 23"/>
          <p:cNvSpPr/>
          <p:nvPr/>
        </p:nvSpPr>
        <p:spPr>
          <a:xfrm>
            <a:off x="4617720" y="1627632"/>
            <a:ext cx="4343401" cy="169164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24"/>
          <p:cNvSpPr/>
          <p:nvPr/>
        </p:nvSpPr>
        <p:spPr>
          <a:xfrm>
            <a:off x="4617720" y="1627632"/>
            <a:ext cx="2011680" cy="25603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5"/>
          <p:cNvSpPr txBox="1"/>
          <p:nvPr/>
        </p:nvSpPr>
        <p:spPr>
          <a:xfrm>
            <a:off x="4736591" y="1652691"/>
            <a:ext cx="184708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ID 6, 26, 27 — Честный «не знаю»</a:t>
            </a:r>
          </a:p>
        </p:txBody>
      </p:sp>
      <p:sp>
        <p:nvSpPr>
          <p:cNvPr id="171" name="Shape 26"/>
          <p:cNvSpPr/>
          <p:nvPr/>
        </p:nvSpPr>
        <p:spPr>
          <a:xfrm>
            <a:off x="6858000" y="1627632"/>
            <a:ext cx="2011679" cy="25603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27"/>
          <p:cNvSpPr txBox="1"/>
          <p:nvPr/>
        </p:nvSpPr>
        <p:spPr>
          <a:xfrm>
            <a:off x="6903719" y="1652691"/>
            <a:ext cx="19202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ВЕРНО — агент не галлюцинирует</a:t>
            </a:r>
          </a:p>
        </p:txBody>
      </p:sp>
      <p:sp>
        <p:nvSpPr>
          <p:cNvPr id="173" name="Text 28"/>
          <p:cNvSpPr txBox="1"/>
          <p:nvPr/>
        </p:nvSpPr>
        <p:spPr>
          <a:xfrm>
            <a:off x="4754879" y="1927011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Вопрос:</a:t>
            </a:r>
          </a:p>
        </p:txBody>
      </p:sp>
      <p:sp>
        <p:nvSpPr>
          <p:cNvPr id="174" name="Text 29"/>
          <p:cNvSpPr txBox="1"/>
          <p:nvPr/>
        </p:nvSpPr>
        <p:spPr>
          <a:xfrm>
            <a:off x="4754879" y="2251622"/>
            <a:ext cx="4069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Какой HTTP-прокси для Qt Creator? / Каков SLA сервера?</a:t>
            </a:r>
          </a:p>
        </p:txBody>
      </p:sp>
      <p:sp>
        <p:nvSpPr>
          <p:cNvPr id="175" name="Text 30"/>
          <p:cNvSpPr txBox="1"/>
          <p:nvPr/>
        </p:nvSpPr>
        <p:spPr>
          <a:xfrm>
            <a:off x="4754879" y="2704251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76" name="Text 31"/>
          <p:cNvSpPr txBox="1"/>
          <p:nvPr/>
        </p:nvSpPr>
        <p:spPr>
          <a:xfrm>
            <a:off x="4754879" y="2969427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6A34A"/>
                </a:solidFill>
              </a:defRPr>
            </a:lvl1pPr>
          </a:lstStyle>
          <a:p>
            <a:pPr/>
            <a:r>
              <a:t>Information not found in the current documentation index.</a:t>
            </a:r>
          </a:p>
        </p:txBody>
      </p:sp>
      <p:sp>
        <p:nvSpPr>
          <p:cNvPr id="177" name="Shape 32"/>
          <p:cNvSpPr/>
          <p:nvPr/>
        </p:nvSpPr>
        <p:spPr>
          <a:xfrm>
            <a:off x="182880" y="3401567"/>
            <a:ext cx="4251960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Shape 33"/>
          <p:cNvSpPr/>
          <p:nvPr/>
        </p:nvSpPr>
        <p:spPr>
          <a:xfrm>
            <a:off x="182880" y="3401567"/>
            <a:ext cx="2011679" cy="25603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34"/>
          <p:cNvSpPr txBox="1"/>
          <p:nvPr/>
        </p:nvSpPr>
        <p:spPr>
          <a:xfrm>
            <a:off x="301752" y="3426626"/>
            <a:ext cx="1847089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ID 16 — Смешение доменов</a:t>
            </a:r>
          </a:p>
        </p:txBody>
      </p:sp>
      <p:sp>
        <p:nvSpPr>
          <p:cNvPr id="180" name="Shape 35"/>
          <p:cNvSpPr/>
          <p:nvPr/>
        </p:nvSpPr>
        <p:spPr>
          <a:xfrm>
            <a:off x="2331720" y="3401567"/>
            <a:ext cx="2011680" cy="25603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36"/>
          <p:cNvSpPr txBox="1"/>
          <p:nvPr/>
        </p:nvSpPr>
        <p:spPr>
          <a:xfrm>
            <a:off x="2377440" y="3426626"/>
            <a:ext cx="19202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НЕВЕРНО — термин перепутан</a:t>
            </a:r>
          </a:p>
        </p:txBody>
      </p:sp>
      <p:sp>
        <p:nvSpPr>
          <p:cNvPr id="182" name="Text 37"/>
          <p:cNvSpPr txBox="1"/>
          <p:nvPr/>
        </p:nvSpPr>
        <p:spPr>
          <a:xfrm>
            <a:off x="320040" y="3700947"/>
            <a:ext cx="3977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Вопрос:</a:t>
            </a:r>
          </a:p>
        </p:txBody>
      </p:sp>
      <p:sp>
        <p:nvSpPr>
          <p:cNvPr id="183" name="Text 38"/>
          <p:cNvSpPr txBox="1"/>
          <p:nvPr/>
        </p:nvSpPr>
        <p:spPr>
          <a:xfrm>
            <a:off x="320040" y="4022130"/>
            <a:ext cx="3977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Какова роль DVC для больших файлов?</a:t>
            </a:r>
          </a:p>
        </p:txBody>
      </p:sp>
      <p:sp>
        <p:nvSpPr>
          <p:cNvPr id="184" name="Text 39"/>
          <p:cNvSpPr txBox="1"/>
          <p:nvPr/>
        </p:nvSpPr>
        <p:spPr>
          <a:xfrm>
            <a:off x="320040" y="4471329"/>
            <a:ext cx="3977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85" name="Text 40"/>
          <p:cNvSpPr txBox="1"/>
          <p:nvPr/>
        </p:nvSpPr>
        <p:spPr>
          <a:xfrm>
            <a:off x="320040" y="4602774"/>
            <a:ext cx="3977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A580C"/>
                </a:solidFill>
              </a:defRPr>
            </a:lvl1pPr>
          </a:lstStyle>
          <a:p>
            <a:pPr/>
            <a:r>
              <a:t>DVC — Data Validation and Conversion (проверка и преобразование данных)</a:t>
            </a:r>
          </a:p>
        </p:txBody>
      </p:sp>
      <p:sp>
        <p:nvSpPr>
          <p:cNvPr id="186" name="Shape 41"/>
          <p:cNvSpPr/>
          <p:nvPr/>
        </p:nvSpPr>
        <p:spPr>
          <a:xfrm>
            <a:off x="4617720" y="3401567"/>
            <a:ext cx="4343401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Shape 42"/>
          <p:cNvSpPr/>
          <p:nvPr/>
        </p:nvSpPr>
        <p:spPr>
          <a:xfrm>
            <a:off x="4617720" y="3401567"/>
            <a:ext cx="2011680" cy="25603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43"/>
          <p:cNvSpPr txBox="1"/>
          <p:nvPr/>
        </p:nvSpPr>
        <p:spPr>
          <a:xfrm>
            <a:off x="4736591" y="3426626"/>
            <a:ext cx="1847089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ID 3, 7, 28 — Retrieval-проблема</a:t>
            </a:r>
          </a:p>
        </p:txBody>
      </p:sp>
      <p:sp>
        <p:nvSpPr>
          <p:cNvPr id="189" name="Shape 44"/>
          <p:cNvSpPr/>
          <p:nvPr/>
        </p:nvSpPr>
        <p:spPr>
          <a:xfrm>
            <a:off x="6858000" y="3401567"/>
            <a:ext cx="2011679" cy="25603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45"/>
          <p:cNvSpPr txBox="1"/>
          <p:nvPr/>
        </p:nvSpPr>
        <p:spPr>
          <a:xfrm>
            <a:off x="6903719" y="3356776"/>
            <a:ext cx="192024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ЧАСТИЧНО — retrieval не нашёл чанк</a:t>
            </a:r>
          </a:p>
        </p:txBody>
      </p:sp>
      <p:sp>
        <p:nvSpPr>
          <p:cNvPr id="191" name="Text 46"/>
          <p:cNvSpPr txBox="1"/>
          <p:nvPr/>
        </p:nvSpPr>
        <p:spPr>
          <a:xfrm>
            <a:off x="4754879" y="3700947"/>
            <a:ext cx="4069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Вопрос:</a:t>
            </a:r>
          </a:p>
        </p:txBody>
      </p:sp>
      <p:sp>
        <p:nvSpPr>
          <p:cNvPr id="192" name="Text 47"/>
          <p:cNvSpPr txBox="1"/>
          <p:nvPr/>
        </p:nvSpPr>
        <p:spPr>
          <a:xfrm>
            <a:off x="4754879" y="4022130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Переменная Dagster / Длительность спринта / Версия Python?</a:t>
            </a:r>
          </a:p>
        </p:txBody>
      </p:sp>
      <p:sp>
        <p:nvSpPr>
          <p:cNvPr id="193" name="Text 48"/>
          <p:cNvSpPr txBox="1"/>
          <p:nvPr/>
        </p:nvSpPr>
        <p:spPr>
          <a:xfrm>
            <a:off x="4754879" y="4471329"/>
            <a:ext cx="4069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64748B"/>
                </a:solidFill>
              </a:defRPr>
            </a:lvl1pPr>
          </a:lstStyle>
          <a:p>
            <a:pPr/>
            <a:r>
              <a:t>Ответ агента:</a:t>
            </a:r>
          </a:p>
        </p:txBody>
      </p:sp>
      <p:sp>
        <p:nvSpPr>
          <p:cNvPr id="194" name="Text 49"/>
          <p:cNvSpPr txBox="1"/>
          <p:nvPr/>
        </p:nvSpPr>
        <p:spPr>
          <a:xfrm>
            <a:off x="4754879" y="4602774"/>
            <a:ext cx="4069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EA580C"/>
                </a:solidFill>
              </a:defRPr>
            </a:lvl1pPr>
          </a:lstStyle>
          <a:p>
            <a:pPr/>
            <a:r>
              <a:t>«Не указано в контексте» — хотя ответ есть в документации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99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Что уже реализовано</a:t>
            </a:r>
          </a:p>
        </p:txBody>
      </p:sp>
      <p:sp>
        <p:nvSpPr>
          <p:cNvPr id="200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201" name="Shape 5"/>
          <p:cNvSpPr/>
          <p:nvPr/>
        </p:nvSpPr>
        <p:spPr>
          <a:xfrm>
            <a:off x="182880" y="594359"/>
            <a:ext cx="4251960" cy="1828801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6"/>
          <p:cNvSpPr/>
          <p:nvPr/>
        </p:nvSpPr>
        <p:spPr>
          <a:xfrm>
            <a:off x="182879" y="594359"/>
            <a:ext cx="457201" cy="18288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7"/>
          <p:cNvSpPr txBox="1"/>
          <p:nvPr/>
        </p:nvSpPr>
        <p:spPr>
          <a:xfrm>
            <a:off x="228600" y="1348740"/>
            <a:ext cx="365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204" name="Text 8"/>
          <p:cNvSpPr txBox="1"/>
          <p:nvPr/>
        </p:nvSpPr>
        <p:spPr>
          <a:xfrm>
            <a:off x="758952" y="767387"/>
            <a:ext cx="353872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Golden Set</a:t>
            </a:r>
          </a:p>
        </p:txBody>
      </p:sp>
      <p:sp>
        <p:nvSpPr>
          <p:cNvPr id="205" name="Text 9"/>
          <p:cNvSpPr txBox="1"/>
          <p:nvPr/>
        </p:nvSpPr>
        <p:spPr>
          <a:xfrm>
            <a:off x="758952" y="1494834"/>
            <a:ext cx="3538728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28 вопросов с эталонными ответами (16 фактографических, 9 процедурных, 3 отрицательных).</a:t>
            </a:r>
          </a:p>
        </p:txBody>
      </p:sp>
      <p:sp>
        <p:nvSpPr>
          <p:cNvPr id="206" name="Shape 10"/>
          <p:cNvSpPr/>
          <p:nvPr/>
        </p:nvSpPr>
        <p:spPr>
          <a:xfrm>
            <a:off x="4663440" y="594359"/>
            <a:ext cx="4251960" cy="1828801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11"/>
          <p:cNvSpPr/>
          <p:nvPr/>
        </p:nvSpPr>
        <p:spPr>
          <a:xfrm>
            <a:off x="4663440" y="594359"/>
            <a:ext cx="457201" cy="18288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2"/>
          <p:cNvSpPr txBox="1"/>
          <p:nvPr/>
        </p:nvSpPr>
        <p:spPr>
          <a:xfrm>
            <a:off x="4709160" y="1348740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209" name="Text 13"/>
          <p:cNvSpPr txBox="1"/>
          <p:nvPr/>
        </p:nvSpPr>
        <p:spPr>
          <a:xfrm>
            <a:off x="5239511" y="767387"/>
            <a:ext cx="353872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GPU контур базы знаний</a:t>
            </a:r>
          </a:p>
        </p:txBody>
      </p:sp>
      <p:sp>
        <p:nvSpPr>
          <p:cNvPr id="210" name="Text 14"/>
          <p:cNvSpPr txBox="1"/>
          <p:nvPr/>
        </p:nvSpPr>
        <p:spPr>
          <a:xfrm>
            <a:off x="5239511" y="1494834"/>
            <a:ext cx="3538729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ClickHouse Agentic Data Stack. 1174 страницы документации в таблице rag_chunks.</a:t>
            </a:r>
          </a:p>
        </p:txBody>
      </p:sp>
      <p:sp>
        <p:nvSpPr>
          <p:cNvPr id="211" name="Shape 15"/>
          <p:cNvSpPr/>
          <p:nvPr/>
        </p:nvSpPr>
        <p:spPr>
          <a:xfrm>
            <a:off x="182880" y="2606039"/>
            <a:ext cx="4251960" cy="1828801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16"/>
          <p:cNvSpPr/>
          <p:nvPr/>
        </p:nvSpPr>
        <p:spPr>
          <a:xfrm>
            <a:off x="182879" y="2606039"/>
            <a:ext cx="457201" cy="18288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17"/>
          <p:cNvSpPr txBox="1"/>
          <p:nvPr/>
        </p:nvSpPr>
        <p:spPr>
          <a:xfrm>
            <a:off x="228600" y="3360420"/>
            <a:ext cx="3657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214" name="Text 18"/>
          <p:cNvSpPr txBox="1"/>
          <p:nvPr/>
        </p:nvSpPr>
        <p:spPr>
          <a:xfrm>
            <a:off x="758952" y="2779067"/>
            <a:ext cx="353872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Первичная оценка</a:t>
            </a:r>
          </a:p>
        </p:txBody>
      </p:sp>
      <p:sp>
        <p:nvSpPr>
          <p:cNvPr id="215" name="Text 19"/>
          <p:cNvSpPr txBox="1"/>
          <p:nvPr/>
        </p:nvSpPr>
        <p:spPr>
          <a:xfrm>
            <a:off x="758952" y="3506514"/>
            <a:ext cx="3538728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43% верно / 29% частично / 29% неверно. XLSX-сравнение сформирован.</a:t>
            </a:r>
          </a:p>
        </p:txBody>
      </p:sp>
      <p:sp>
        <p:nvSpPr>
          <p:cNvPr id="216" name="Shape 20"/>
          <p:cNvSpPr/>
          <p:nvPr/>
        </p:nvSpPr>
        <p:spPr>
          <a:xfrm>
            <a:off x="4663440" y="2606039"/>
            <a:ext cx="4251960" cy="1828801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21"/>
          <p:cNvSpPr/>
          <p:nvPr/>
        </p:nvSpPr>
        <p:spPr>
          <a:xfrm>
            <a:off x="4663440" y="2606039"/>
            <a:ext cx="457201" cy="182880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22"/>
          <p:cNvSpPr txBox="1"/>
          <p:nvPr/>
        </p:nvSpPr>
        <p:spPr>
          <a:xfrm>
            <a:off x="4709160" y="3373120"/>
            <a:ext cx="36576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⚠</a:t>
            </a:r>
          </a:p>
        </p:txBody>
      </p:sp>
      <p:sp>
        <p:nvSpPr>
          <p:cNvPr id="219" name="Text 23"/>
          <p:cNvSpPr txBox="1"/>
          <p:nvPr/>
        </p:nvSpPr>
        <p:spPr>
          <a:xfrm>
            <a:off x="5239511" y="2779067"/>
            <a:ext cx="353872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DC2626"/>
                </a:solidFill>
              </a:defRPr>
            </a:lvl1pPr>
          </a:lstStyle>
          <a:p>
            <a:pPr/>
            <a:r>
              <a:t>MCP-контейнер удалён</a:t>
            </a:r>
          </a:p>
        </p:txBody>
      </p:sp>
      <p:sp>
        <p:nvSpPr>
          <p:cNvPr id="220" name="Text 24"/>
          <p:cNvSpPr txBox="1"/>
          <p:nvPr/>
        </p:nvSpPr>
        <p:spPr>
          <a:xfrm>
            <a:off x="5239511" y="3506514"/>
            <a:ext cx="3538729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Удалён из Docker Compose (проблемы архитектуры образов). MCP реализуется на Цели 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5" name="Text 3"/>
          <p:cNvSpPr txBox="1"/>
          <p:nvPr/>
        </p:nvSpPr>
        <p:spPr>
          <a:xfrm>
            <a:off x="731519" y="-43599"/>
            <a:ext cx="8229601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Используемые технические программные средства для создания агентов</a:t>
            </a:r>
          </a:p>
        </p:txBody>
      </p:sp>
      <p:sp>
        <p:nvSpPr>
          <p:cNvPr id="226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graphicFrame>
        <p:nvGraphicFramePr>
          <p:cNvPr id="227" name="Table 0"/>
          <p:cNvGraphicFramePr/>
          <p:nvPr/>
        </p:nvGraphicFramePr>
        <p:xfrm>
          <a:off x="182879" y="566927"/>
          <a:ext cx="8778242" cy="336499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60320"/>
                <a:gridCol w="621792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Компонент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solidFill>
                      <a:srgbClr val="1B3A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Интерфейс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LibreChat v3 · порт 3080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LLM (primary)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Ollama llama3.2:3b — локальный GPU-инференс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LLM (fallback)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Ollama llama3.1:8b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Embedding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nomic-embed-text · 768 dim · cosine distance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Векторная БД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ClickHouse Cloud eu-central-1.aws · таблица rag_chunks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Observability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Langfuse v3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Reranking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/>
                        <a:t>scikit-learn — Semantic 60% + Keyword 40%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8" name="Shape 5"/>
          <p:cNvSpPr/>
          <p:nvPr/>
        </p:nvSpPr>
        <p:spPr>
          <a:xfrm>
            <a:off x="182879" y="4059935"/>
            <a:ext cx="8778242" cy="749809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6"/>
          <p:cNvSpPr txBox="1"/>
          <p:nvPr/>
        </p:nvSpPr>
        <p:spPr>
          <a:xfrm>
            <a:off x="338328" y="4320584"/>
            <a:ext cx="8467344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Docker Compose — 9 контейнеров: clickhouse-server, langfuse, postgres 17, mongo 8, redis 7, pgvector, minio, meilisearch, LibreChat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4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Структурная схема: КОМПАКС® + AI-агент</a:t>
            </a:r>
          </a:p>
        </p:txBody>
      </p:sp>
      <p:sp>
        <p:nvSpPr>
          <p:cNvPr id="235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236" name="Shape 5"/>
          <p:cNvSpPr/>
          <p:nvPr/>
        </p:nvSpPr>
        <p:spPr>
          <a:xfrm>
            <a:off x="182879" y="621791"/>
            <a:ext cx="2743201" cy="3858769"/>
          </a:xfrm>
          <a:prstGeom prst="rect">
            <a:avLst/>
          </a:prstGeom>
          <a:solidFill>
            <a:srgbClr val="EBF3F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6"/>
          <p:cNvSpPr txBox="1"/>
          <p:nvPr/>
        </p:nvSpPr>
        <p:spPr>
          <a:xfrm>
            <a:off x="274319" y="700707"/>
            <a:ext cx="2560322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B3A6B"/>
                </a:solidFill>
              </a:defRPr>
            </a:pPr>
            <a:r>
              <a:t>КОМПАКС® 7</a:t>
            </a:r>
          </a:p>
          <a:p>
            <a:pPr algn="ctr">
              <a:defRPr b="1" sz="1100">
                <a:solidFill>
                  <a:srgbClr val="1B3A6B"/>
                </a:solidFill>
              </a:defRPr>
            </a:pPr>
            <a:r>
              <a:t>Серверная часть</a:t>
            </a:r>
          </a:p>
        </p:txBody>
      </p:sp>
      <p:sp>
        <p:nvSpPr>
          <p:cNvPr id="238" name="Shape 7"/>
          <p:cNvSpPr/>
          <p:nvPr/>
        </p:nvSpPr>
        <p:spPr>
          <a:xfrm>
            <a:off x="320039" y="1234439"/>
            <a:ext cx="2468882" cy="7772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8"/>
          <p:cNvSpPr txBox="1"/>
          <p:nvPr/>
        </p:nvSpPr>
        <p:spPr>
          <a:xfrm>
            <a:off x="365759" y="1426254"/>
            <a:ext cx="23774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B3A6B"/>
                </a:solidFill>
              </a:defRPr>
            </a:pPr>
            <a:r>
              <a:t>БД реального</a:t>
            </a:r>
          </a:p>
          <a:p>
            <a:pPr algn="ctr">
              <a:defRPr sz="1000">
                <a:solidFill>
                  <a:srgbClr val="1B3A6B"/>
                </a:solidFill>
              </a:defRPr>
            </a:pPr>
            <a:r>
              <a:t>времени</a:t>
            </a:r>
          </a:p>
        </p:txBody>
      </p:sp>
      <p:sp>
        <p:nvSpPr>
          <p:cNvPr id="240" name="Shape 9"/>
          <p:cNvSpPr/>
          <p:nvPr/>
        </p:nvSpPr>
        <p:spPr>
          <a:xfrm>
            <a:off x="320039" y="2258567"/>
            <a:ext cx="2468882" cy="7772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0"/>
          <p:cNvSpPr txBox="1"/>
          <p:nvPr/>
        </p:nvSpPr>
        <p:spPr>
          <a:xfrm>
            <a:off x="365759" y="2450382"/>
            <a:ext cx="23774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B3A6B"/>
                </a:solidFill>
              </a:defRPr>
            </a:pPr>
            <a:r>
              <a:t>Модуль</a:t>
            </a:r>
          </a:p>
          <a:p>
            <a:pPr algn="ctr">
              <a:defRPr sz="1000">
                <a:solidFill>
                  <a:srgbClr val="1B3A6B"/>
                </a:solidFill>
              </a:defRPr>
            </a:pPr>
            <a:r>
              <a:t>диагностики</a:t>
            </a:r>
          </a:p>
        </p:txBody>
      </p:sp>
      <p:sp>
        <p:nvSpPr>
          <p:cNvPr id="242" name="Shape 11"/>
          <p:cNvSpPr/>
          <p:nvPr/>
        </p:nvSpPr>
        <p:spPr>
          <a:xfrm>
            <a:off x="320039" y="3282696"/>
            <a:ext cx="2468882" cy="7772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2"/>
          <p:cNvSpPr txBox="1"/>
          <p:nvPr/>
        </p:nvSpPr>
        <p:spPr>
          <a:xfrm>
            <a:off x="365759" y="3474510"/>
            <a:ext cx="23774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B3A6B"/>
                </a:solidFill>
              </a:defRPr>
            </a:pPr>
            <a:r>
              <a:t>API /</a:t>
            </a:r>
          </a:p>
          <a:p>
            <a:pPr algn="ctr">
              <a:defRPr sz="1000">
                <a:solidFill>
                  <a:srgbClr val="1B3A6B"/>
                </a:solidFill>
              </a:defRPr>
            </a:pPr>
            <a:r>
              <a:t>MCP-интерфейс</a:t>
            </a:r>
          </a:p>
        </p:txBody>
      </p:sp>
      <p:sp>
        <p:nvSpPr>
          <p:cNvPr id="244" name="Shape 13"/>
          <p:cNvSpPr/>
          <p:nvPr/>
        </p:nvSpPr>
        <p:spPr>
          <a:xfrm>
            <a:off x="6263640" y="621791"/>
            <a:ext cx="2743201" cy="3858769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14"/>
          <p:cNvSpPr txBox="1"/>
          <p:nvPr/>
        </p:nvSpPr>
        <p:spPr>
          <a:xfrm>
            <a:off x="6355079" y="700707"/>
            <a:ext cx="256032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Терминал</a:t>
            </a:r>
          </a:p>
          <a:p>
            <a:pPr algn="ctr">
              <a:defRPr b="1" sz="1100">
                <a:solidFill>
                  <a:srgbClr val="16A34A"/>
                </a:solidFill>
              </a:defRPr>
            </a:pPr>
            <a:r>
              <a:t>оператора</a:t>
            </a:r>
          </a:p>
        </p:txBody>
      </p:sp>
      <p:sp>
        <p:nvSpPr>
          <p:cNvPr id="246" name="Shape 15"/>
          <p:cNvSpPr/>
          <p:nvPr/>
        </p:nvSpPr>
        <p:spPr>
          <a:xfrm>
            <a:off x="6400800" y="1234439"/>
            <a:ext cx="2468881" cy="777241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16"/>
          <p:cNvSpPr txBox="1"/>
          <p:nvPr/>
        </p:nvSpPr>
        <p:spPr>
          <a:xfrm>
            <a:off x="6446520" y="1426254"/>
            <a:ext cx="23774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>
                <a:solidFill>
                  <a:srgbClr val="111111"/>
                </a:solidFill>
              </a:defRPr>
            </a:pPr>
            <a:r>
              <a:t>Экраны мониторинга</a:t>
            </a:r>
          </a:p>
          <a:p>
            <a:pPr algn="ctr">
              <a:defRPr sz="1000">
                <a:solidFill>
                  <a:srgbClr val="111111"/>
                </a:solidFill>
              </a:defRPr>
            </a:pPr>
            <a:r>
              <a:t>(существующий UI)</a:t>
            </a:r>
          </a:p>
        </p:txBody>
      </p:sp>
      <p:sp>
        <p:nvSpPr>
          <p:cNvPr id="248" name="Shape 17"/>
          <p:cNvSpPr/>
          <p:nvPr/>
        </p:nvSpPr>
        <p:spPr>
          <a:xfrm>
            <a:off x="6400800" y="2258567"/>
            <a:ext cx="2468881" cy="777241"/>
          </a:xfrm>
          <a:prstGeom prst="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8"/>
          <p:cNvSpPr txBox="1"/>
          <p:nvPr/>
        </p:nvSpPr>
        <p:spPr>
          <a:xfrm>
            <a:off x="6446520" y="2410968"/>
            <a:ext cx="2377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16A34A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 </a:t>
            </a:r>
            <a:r>
              <a:t>Кнопка AI-агента</a:t>
            </a:r>
          </a:p>
          <a:p>
            <a:pPr algn="ctr">
              <a:defRPr b="1" sz="1000">
                <a:solidFill>
                  <a:srgbClr val="16A34A"/>
                </a:solidFill>
              </a:defRPr>
            </a:pPr>
            <a:r>
              <a:t>(новое)</a:t>
            </a:r>
          </a:p>
        </p:txBody>
      </p:sp>
      <p:sp>
        <p:nvSpPr>
          <p:cNvPr id="250" name="Shape 19"/>
          <p:cNvSpPr/>
          <p:nvPr/>
        </p:nvSpPr>
        <p:spPr>
          <a:xfrm>
            <a:off x="3017520" y="1097280"/>
            <a:ext cx="3154681" cy="25603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20"/>
          <p:cNvSpPr txBox="1"/>
          <p:nvPr/>
        </p:nvSpPr>
        <p:spPr>
          <a:xfrm>
            <a:off x="3063239" y="1127287"/>
            <a:ext cx="3063242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Прямая связь — существующий канал (не меняется)</a:t>
            </a:r>
          </a:p>
        </p:txBody>
      </p:sp>
      <p:sp>
        <p:nvSpPr>
          <p:cNvPr id="252" name="Shape 23"/>
          <p:cNvSpPr/>
          <p:nvPr/>
        </p:nvSpPr>
        <p:spPr>
          <a:xfrm>
            <a:off x="2926079" y="1225296"/>
            <a:ext cx="109729" cy="1"/>
          </a:xfrm>
          <a:prstGeom prst="line">
            <a:avLst/>
          </a:prstGeom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Shape 24"/>
          <p:cNvSpPr/>
          <p:nvPr/>
        </p:nvSpPr>
        <p:spPr>
          <a:xfrm>
            <a:off x="2926079" y="1225296"/>
            <a:ext cx="1" cy="393193"/>
          </a:xfrm>
          <a:prstGeom prst="line">
            <a:avLst/>
          </a:prstGeom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Shape 25"/>
          <p:cNvSpPr/>
          <p:nvPr/>
        </p:nvSpPr>
        <p:spPr>
          <a:xfrm>
            <a:off x="6153911" y="1618488"/>
            <a:ext cx="109729" cy="1"/>
          </a:xfrm>
          <a:prstGeom prst="line">
            <a:avLst/>
          </a:prstGeom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Shape 26"/>
          <p:cNvSpPr/>
          <p:nvPr/>
        </p:nvSpPr>
        <p:spPr>
          <a:xfrm>
            <a:off x="6153911" y="1225296"/>
            <a:ext cx="1" cy="393193"/>
          </a:xfrm>
          <a:prstGeom prst="line">
            <a:avLst/>
          </a:prstGeom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hape 27"/>
          <p:cNvSpPr/>
          <p:nvPr/>
        </p:nvSpPr>
        <p:spPr>
          <a:xfrm>
            <a:off x="3017520" y="2176272"/>
            <a:ext cx="3154681" cy="2011679"/>
          </a:xfrm>
          <a:prstGeom prst="rect">
            <a:avLst/>
          </a:prstGeom>
          <a:solidFill>
            <a:srgbClr val="FFFDE7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hape 28"/>
          <p:cNvSpPr/>
          <p:nvPr/>
        </p:nvSpPr>
        <p:spPr>
          <a:xfrm>
            <a:off x="3017520" y="2176272"/>
            <a:ext cx="3154681" cy="32004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9"/>
          <p:cNvSpPr txBox="1"/>
          <p:nvPr/>
        </p:nvSpPr>
        <p:spPr>
          <a:xfrm>
            <a:off x="3108960" y="2222036"/>
            <a:ext cx="2971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AI-агент  (новый параллельный канал)</a:t>
            </a:r>
          </a:p>
        </p:txBody>
      </p:sp>
      <p:sp>
        <p:nvSpPr>
          <p:cNvPr id="259" name="Shape 30"/>
          <p:cNvSpPr/>
          <p:nvPr/>
        </p:nvSpPr>
        <p:spPr>
          <a:xfrm>
            <a:off x="3090672" y="2606039"/>
            <a:ext cx="960120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31"/>
          <p:cNvSpPr txBox="1"/>
          <p:nvPr/>
        </p:nvSpPr>
        <p:spPr>
          <a:xfrm>
            <a:off x="3116326" y="3141893"/>
            <a:ext cx="92075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2563EB"/>
                </a:solidFill>
              </a:defRPr>
            </a:pPr>
            <a:r>
              <a:t>Векторная БД</a:t>
            </a:r>
          </a:p>
          <a:p>
            <a:pPr algn="ctr">
              <a:defRPr b="1" sz="900">
                <a:solidFill>
                  <a:srgbClr val="2563EB"/>
                </a:solidFill>
              </a:defRPr>
            </a:pPr>
            <a:r>
              <a:t>(документация)</a:t>
            </a:r>
          </a:p>
        </p:txBody>
      </p:sp>
      <p:sp>
        <p:nvSpPr>
          <p:cNvPr id="261" name="Shape 32"/>
          <p:cNvSpPr/>
          <p:nvPr/>
        </p:nvSpPr>
        <p:spPr>
          <a:xfrm>
            <a:off x="4123944" y="2606039"/>
            <a:ext cx="960120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33"/>
          <p:cNvSpPr txBox="1"/>
          <p:nvPr/>
        </p:nvSpPr>
        <p:spPr>
          <a:xfrm>
            <a:off x="4169664" y="3141893"/>
            <a:ext cx="86868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2563EB"/>
                </a:solidFill>
              </a:defRPr>
            </a:pPr>
            <a:r>
              <a:t>LLM — Ollama</a:t>
            </a:r>
          </a:p>
          <a:p>
            <a:pPr algn="ctr">
              <a:defRPr b="1" sz="900">
                <a:solidFill>
                  <a:srgbClr val="2563EB"/>
                </a:solidFill>
              </a:defRPr>
            </a:pPr>
            <a:r>
              <a:t>(llama3.2:3b)</a:t>
            </a:r>
          </a:p>
        </p:txBody>
      </p:sp>
      <p:sp>
        <p:nvSpPr>
          <p:cNvPr id="263" name="Shape 34"/>
          <p:cNvSpPr/>
          <p:nvPr/>
        </p:nvSpPr>
        <p:spPr>
          <a:xfrm>
            <a:off x="5157215" y="2606039"/>
            <a:ext cx="960121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35"/>
          <p:cNvSpPr txBox="1"/>
          <p:nvPr/>
        </p:nvSpPr>
        <p:spPr>
          <a:xfrm>
            <a:off x="5202935" y="3141893"/>
            <a:ext cx="86868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2563EB"/>
                </a:solidFill>
              </a:defRPr>
            </a:pPr>
            <a:r>
              <a:t>MCP-клиент</a:t>
            </a:r>
          </a:p>
          <a:p>
            <a:pPr algn="ctr">
              <a:defRPr b="1" sz="900">
                <a:solidFill>
                  <a:srgbClr val="2563EB"/>
                </a:solidFill>
              </a:defRPr>
            </a:pPr>
            <a:r>
              <a:t>(Цель 2)</a:t>
            </a:r>
          </a:p>
        </p:txBody>
      </p:sp>
      <p:sp>
        <p:nvSpPr>
          <p:cNvPr id="265" name="Shape 36"/>
          <p:cNvSpPr/>
          <p:nvPr/>
        </p:nvSpPr>
        <p:spPr>
          <a:xfrm>
            <a:off x="2926079" y="3246120"/>
            <a:ext cx="10972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37"/>
          <p:cNvSpPr/>
          <p:nvPr/>
        </p:nvSpPr>
        <p:spPr>
          <a:xfrm>
            <a:off x="6153911" y="3246120"/>
            <a:ext cx="109729" cy="1"/>
          </a:xfrm>
          <a:prstGeom prst="line">
            <a:avLst/>
          </a:prstGeom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hape 38"/>
          <p:cNvSpPr/>
          <p:nvPr/>
        </p:nvSpPr>
        <p:spPr>
          <a:xfrm>
            <a:off x="182879" y="4663440"/>
            <a:ext cx="8778242" cy="256033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39"/>
          <p:cNvSpPr txBox="1"/>
          <p:nvPr/>
        </p:nvSpPr>
        <p:spPr>
          <a:xfrm>
            <a:off x="320040" y="4674741"/>
            <a:ext cx="8503920" cy="233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900">
                <a:solidFill>
                  <a:srgbClr val="1B3A6B"/>
                </a:solidFill>
              </a:defRPr>
            </a:pPr>
            <a:r>
              <a:t>━━  </a:t>
            </a:r>
            <a:r>
              <a:rPr b="0"/>
              <a:t>Прямая связь терминал ↔ сервер (остаётся без изменений)     </a:t>
            </a:r>
            <a:r>
              <a:rPr>
                <a:solidFill>
                  <a:srgbClr val="2563EB"/>
                </a:solidFill>
              </a:rPr>
              <a:t>━━  </a:t>
            </a:r>
            <a:r>
              <a:rPr b="0">
                <a:solidFill>
                  <a:srgbClr val="2563EB"/>
                </a:solidFill>
              </a:rPr>
              <a:t>Новый канал через AI-агент (добавляется параллельно)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73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Интеграция в интерфейс КОМПАКС®</a:t>
            </a:r>
          </a:p>
        </p:txBody>
      </p:sp>
      <p:sp>
        <p:nvSpPr>
          <p:cNvPr id="274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pic>
        <p:nvPicPr>
          <p:cNvPr id="2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594359"/>
            <a:ext cx="5303522" cy="3063241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hape 6"/>
          <p:cNvSpPr/>
          <p:nvPr/>
        </p:nvSpPr>
        <p:spPr>
          <a:xfrm>
            <a:off x="228600" y="3749040"/>
            <a:ext cx="1554481" cy="40233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7"/>
          <p:cNvSpPr txBox="1"/>
          <p:nvPr/>
        </p:nvSpPr>
        <p:spPr>
          <a:xfrm>
            <a:off x="274319" y="3790188"/>
            <a:ext cx="146304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  </a:t>
            </a:r>
            <a:r>
              <a:t>AI-Агент</a:t>
            </a:r>
          </a:p>
        </p:txBody>
      </p:sp>
      <p:sp>
        <p:nvSpPr>
          <p:cNvPr id="278" name="Text 8"/>
          <p:cNvSpPr txBox="1"/>
          <p:nvPr/>
        </p:nvSpPr>
        <p:spPr>
          <a:xfrm>
            <a:off x="1920239" y="3847251"/>
            <a:ext cx="34290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← кнопка добавляется в существующий интерфейс</a:t>
            </a:r>
          </a:p>
        </p:txBody>
      </p:sp>
      <p:sp>
        <p:nvSpPr>
          <p:cNvPr id="279" name="Shape 9"/>
          <p:cNvSpPr/>
          <p:nvPr/>
        </p:nvSpPr>
        <p:spPr>
          <a:xfrm>
            <a:off x="5669279" y="594359"/>
            <a:ext cx="3337560" cy="393192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Shape 10"/>
          <p:cNvSpPr/>
          <p:nvPr/>
        </p:nvSpPr>
        <p:spPr>
          <a:xfrm>
            <a:off x="5669279" y="594359"/>
            <a:ext cx="3337560" cy="38404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1"/>
          <p:cNvSpPr txBox="1"/>
          <p:nvPr/>
        </p:nvSpPr>
        <p:spPr>
          <a:xfrm>
            <a:off x="5760720" y="626363"/>
            <a:ext cx="315468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🤖  </a:t>
            </a:r>
            <a:r>
              <a:t>AI-агент КОМПАКС®</a:t>
            </a:r>
          </a:p>
        </p:txBody>
      </p:sp>
      <p:sp>
        <p:nvSpPr>
          <p:cNvPr id="282" name="Shape 12"/>
          <p:cNvSpPr/>
          <p:nvPr/>
        </p:nvSpPr>
        <p:spPr>
          <a:xfrm>
            <a:off x="6858000" y="1078991"/>
            <a:ext cx="2011679" cy="658369"/>
          </a:xfrm>
          <a:prstGeom prst="rect">
            <a:avLst/>
          </a:prstGeom>
          <a:solidFill>
            <a:srgbClr val="E8F0FE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3"/>
          <p:cNvSpPr txBox="1"/>
          <p:nvPr/>
        </p:nvSpPr>
        <p:spPr>
          <a:xfrm>
            <a:off x="6976871" y="1235369"/>
            <a:ext cx="1773937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Почему P-102 в статусе ВНИМАНИЕ?</a:t>
            </a:r>
          </a:p>
        </p:txBody>
      </p:sp>
      <p:sp>
        <p:nvSpPr>
          <p:cNvPr id="284" name="Shape 14"/>
          <p:cNvSpPr/>
          <p:nvPr/>
        </p:nvSpPr>
        <p:spPr>
          <a:xfrm>
            <a:off x="5742432" y="1883664"/>
            <a:ext cx="2011680" cy="658369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15"/>
          <p:cNvSpPr txBox="1"/>
          <p:nvPr/>
        </p:nvSpPr>
        <p:spPr>
          <a:xfrm>
            <a:off x="5861304" y="1900341"/>
            <a:ext cx="1773937" cy="625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Температура 87°C превышает порог 85°C. По рег. №ТО-014 рекомендуется проверить охладитель.</a:t>
            </a:r>
          </a:p>
        </p:txBody>
      </p:sp>
      <p:sp>
        <p:nvSpPr>
          <p:cNvPr id="286" name="Shape 16"/>
          <p:cNvSpPr/>
          <p:nvPr/>
        </p:nvSpPr>
        <p:spPr>
          <a:xfrm>
            <a:off x="6858000" y="2688335"/>
            <a:ext cx="2011679" cy="658369"/>
          </a:xfrm>
          <a:prstGeom prst="rect">
            <a:avLst/>
          </a:prstGeom>
          <a:solidFill>
            <a:srgbClr val="E8F0FE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17"/>
          <p:cNvSpPr txBox="1"/>
          <p:nvPr/>
        </p:nvSpPr>
        <p:spPr>
          <a:xfrm>
            <a:off x="6976871" y="2914563"/>
            <a:ext cx="1773937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Покажи последние 24ч тренда</a:t>
            </a:r>
          </a:p>
        </p:txBody>
      </p:sp>
      <p:sp>
        <p:nvSpPr>
          <p:cNvPr id="288" name="Shape 18"/>
          <p:cNvSpPr/>
          <p:nvPr/>
        </p:nvSpPr>
        <p:spPr>
          <a:xfrm>
            <a:off x="5715000" y="4069079"/>
            <a:ext cx="3246121" cy="36576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19"/>
          <p:cNvSpPr txBox="1"/>
          <p:nvPr/>
        </p:nvSpPr>
        <p:spPr>
          <a:xfrm>
            <a:off x="5824728" y="4110989"/>
            <a:ext cx="302666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Введите вопрос или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🎤 </a:t>
            </a:r>
            <a:r>
              <a:t>голос...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94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Ролевая модель: накопительный доступ к базе знаний</a:t>
            </a:r>
          </a:p>
        </p:txBody>
      </p:sp>
      <p:sp>
        <p:nvSpPr>
          <p:cNvPr id="295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296" name="Shape 5"/>
          <p:cNvSpPr/>
          <p:nvPr/>
        </p:nvSpPr>
        <p:spPr>
          <a:xfrm>
            <a:off x="182880" y="594359"/>
            <a:ext cx="2029968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Shape 6"/>
          <p:cNvSpPr/>
          <p:nvPr/>
        </p:nvSpPr>
        <p:spPr>
          <a:xfrm>
            <a:off x="182880" y="594359"/>
            <a:ext cx="2029968" cy="41148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7"/>
          <p:cNvSpPr txBox="1"/>
          <p:nvPr/>
        </p:nvSpPr>
        <p:spPr>
          <a:xfrm>
            <a:off x="301751" y="687246"/>
            <a:ext cx="1792226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299" name="Text 8"/>
          <p:cNvSpPr txBox="1"/>
          <p:nvPr/>
        </p:nvSpPr>
        <p:spPr>
          <a:xfrm>
            <a:off x="320039" y="1104051"/>
            <a:ext cx="175565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Векторная база:</a:t>
            </a:r>
          </a:p>
        </p:txBody>
      </p:sp>
      <p:sp>
        <p:nvSpPr>
          <p:cNvPr id="300" name="Shape 9"/>
          <p:cNvSpPr/>
          <p:nvPr/>
        </p:nvSpPr>
        <p:spPr>
          <a:xfrm>
            <a:off x="274319" y="1371600"/>
            <a:ext cx="1847090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10"/>
          <p:cNvSpPr txBox="1"/>
          <p:nvPr/>
        </p:nvSpPr>
        <p:spPr>
          <a:xfrm>
            <a:off x="320039" y="1442379"/>
            <a:ext cx="175565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302" name="Text 11"/>
          <p:cNvSpPr txBox="1"/>
          <p:nvPr/>
        </p:nvSpPr>
        <p:spPr>
          <a:xfrm>
            <a:off x="320039" y="3486063"/>
            <a:ext cx="175565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Инструменты:</a:t>
            </a:r>
          </a:p>
        </p:txBody>
      </p:sp>
      <p:sp>
        <p:nvSpPr>
          <p:cNvPr id="303" name="Text 12"/>
          <p:cNvSpPr txBox="1"/>
          <p:nvPr/>
        </p:nvSpPr>
        <p:spPr>
          <a:xfrm>
            <a:off x="320039" y="3956979"/>
            <a:ext cx="175565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Только чтение данных</a:t>
            </a:r>
          </a:p>
        </p:txBody>
      </p:sp>
      <p:sp>
        <p:nvSpPr>
          <p:cNvPr id="304" name="Shape 13"/>
          <p:cNvSpPr/>
          <p:nvPr/>
        </p:nvSpPr>
        <p:spPr>
          <a:xfrm>
            <a:off x="2395727" y="594359"/>
            <a:ext cx="2029969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14"/>
          <p:cNvSpPr/>
          <p:nvPr/>
        </p:nvSpPr>
        <p:spPr>
          <a:xfrm>
            <a:off x="2395727" y="594359"/>
            <a:ext cx="2029969" cy="41148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15"/>
          <p:cNvSpPr txBox="1"/>
          <p:nvPr/>
        </p:nvSpPr>
        <p:spPr>
          <a:xfrm>
            <a:off x="2514599" y="687246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Механик</a:t>
            </a:r>
          </a:p>
        </p:txBody>
      </p:sp>
      <p:sp>
        <p:nvSpPr>
          <p:cNvPr id="307" name="Text 16"/>
          <p:cNvSpPr txBox="1"/>
          <p:nvPr/>
        </p:nvSpPr>
        <p:spPr>
          <a:xfrm>
            <a:off x="2532888" y="1104051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Векторная база:</a:t>
            </a:r>
          </a:p>
        </p:txBody>
      </p:sp>
      <p:sp>
        <p:nvSpPr>
          <p:cNvPr id="308" name="Shape 17"/>
          <p:cNvSpPr/>
          <p:nvPr/>
        </p:nvSpPr>
        <p:spPr>
          <a:xfrm>
            <a:off x="2487167" y="1371600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18"/>
          <p:cNvSpPr txBox="1"/>
          <p:nvPr/>
        </p:nvSpPr>
        <p:spPr>
          <a:xfrm>
            <a:off x="2532888" y="1442379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310" name="Shape 19"/>
          <p:cNvSpPr/>
          <p:nvPr/>
        </p:nvSpPr>
        <p:spPr>
          <a:xfrm>
            <a:off x="2487167" y="1792223"/>
            <a:ext cx="1847089" cy="34747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20"/>
          <p:cNvSpPr txBox="1"/>
          <p:nvPr/>
        </p:nvSpPr>
        <p:spPr>
          <a:xfrm>
            <a:off x="2532888" y="186300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Механик</a:t>
            </a:r>
          </a:p>
        </p:txBody>
      </p:sp>
      <p:sp>
        <p:nvSpPr>
          <p:cNvPr id="312" name="Text 21"/>
          <p:cNvSpPr txBox="1"/>
          <p:nvPr/>
        </p:nvSpPr>
        <p:spPr>
          <a:xfrm>
            <a:off x="2532888" y="348606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Инструменты:</a:t>
            </a:r>
          </a:p>
        </p:txBody>
      </p:sp>
      <p:sp>
        <p:nvSpPr>
          <p:cNvPr id="313" name="Text 22"/>
          <p:cNvSpPr txBox="1"/>
          <p:nvPr/>
        </p:nvSpPr>
        <p:spPr>
          <a:xfrm>
            <a:off x="2532888" y="3956979"/>
            <a:ext cx="1755649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Чтение + запись в журнал</a:t>
            </a:r>
          </a:p>
        </p:txBody>
      </p:sp>
      <p:sp>
        <p:nvSpPr>
          <p:cNvPr id="314" name="Shape 23"/>
          <p:cNvSpPr/>
          <p:nvPr/>
        </p:nvSpPr>
        <p:spPr>
          <a:xfrm>
            <a:off x="4608576" y="594359"/>
            <a:ext cx="2029969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Shape 24"/>
          <p:cNvSpPr/>
          <p:nvPr/>
        </p:nvSpPr>
        <p:spPr>
          <a:xfrm>
            <a:off x="4608576" y="594359"/>
            <a:ext cx="2029969" cy="41148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25"/>
          <p:cNvSpPr txBox="1"/>
          <p:nvPr/>
        </p:nvSpPr>
        <p:spPr>
          <a:xfrm>
            <a:off x="4727448" y="687246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Диагност</a:t>
            </a:r>
          </a:p>
        </p:txBody>
      </p:sp>
      <p:sp>
        <p:nvSpPr>
          <p:cNvPr id="317" name="Text 26"/>
          <p:cNvSpPr txBox="1"/>
          <p:nvPr/>
        </p:nvSpPr>
        <p:spPr>
          <a:xfrm>
            <a:off x="4745735" y="1104051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Векторная база:</a:t>
            </a:r>
          </a:p>
        </p:txBody>
      </p:sp>
      <p:sp>
        <p:nvSpPr>
          <p:cNvPr id="318" name="Shape 27"/>
          <p:cNvSpPr/>
          <p:nvPr/>
        </p:nvSpPr>
        <p:spPr>
          <a:xfrm>
            <a:off x="4700015" y="1371600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8"/>
          <p:cNvSpPr txBox="1"/>
          <p:nvPr/>
        </p:nvSpPr>
        <p:spPr>
          <a:xfrm>
            <a:off x="4745735" y="1442379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320" name="Shape 29"/>
          <p:cNvSpPr/>
          <p:nvPr/>
        </p:nvSpPr>
        <p:spPr>
          <a:xfrm>
            <a:off x="4700015" y="1792223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30"/>
          <p:cNvSpPr txBox="1"/>
          <p:nvPr/>
        </p:nvSpPr>
        <p:spPr>
          <a:xfrm>
            <a:off x="4745735" y="186300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Механик</a:t>
            </a:r>
          </a:p>
        </p:txBody>
      </p:sp>
      <p:sp>
        <p:nvSpPr>
          <p:cNvPr id="322" name="Shape 31"/>
          <p:cNvSpPr/>
          <p:nvPr/>
        </p:nvSpPr>
        <p:spPr>
          <a:xfrm>
            <a:off x="4700015" y="2212848"/>
            <a:ext cx="1847089" cy="347473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32"/>
          <p:cNvSpPr txBox="1"/>
          <p:nvPr/>
        </p:nvSpPr>
        <p:spPr>
          <a:xfrm>
            <a:off x="4745735" y="2283627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Диагност</a:t>
            </a:r>
          </a:p>
        </p:txBody>
      </p:sp>
      <p:sp>
        <p:nvSpPr>
          <p:cNvPr id="324" name="Text 33"/>
          <p:cNvSpPr txBox="1"/>
          <p:nvPr/>
        </p:nvSpPr>
        <p:spPr>
          <a:xfrm>
            <a:off x="4745735" y="348606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Инструменты:</a:t>
            </a:r>
          </a:p>
        </p:txBody>
      </p:sp>
      <p:sp>
        <p:nvSpPr>
          <p:cNvPr id="325" name="Text 34"/>
          <p:cNvSpPr txBox="1"/>
          <p:nvPr/>
        </p:nvSpPr>
        <p:spPr>
          <a:xfrm>
            <a:off x="4745735" y="3956979"/>
            <a:ext cx="1755649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Чтение + экспорт</a:t>
            </a:r>
          </a:p>
        </p:txBody>
      </p:sp>
      <p:sp>
        <p:nvSpPr>
          <p:cNvPr id="326" name="Shape 35"/>
          <p:cNvSpPr/>
          <p:nvPr/>
        </p:nvSpPr>
        <p:spPr>
          <a:xfrm>
            <a:off x="6821423" y="594359"/>
            <a:ext cx="2029969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Shape 36"/>
          <p:cNvSpPr/>
          <p:nvPr/>
        </p:nvSpPr>
        <p:spPr>
          <a:xfrm>
            <a:off x="6821423" y="594359"/>
            <a:ext cx="2029969" cy="41148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37"/>
          <p:cNvSpPr txBox="1"/>
          <p:nvPr/>
        </p:nvSpPr>
        <p:spPr>
          <a:xfrm>
            <a:off x="6940295" y="687246"/>
            <a:ext cx="1792225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Инженер внедрения</a:t>
            </a:r>
          </a:p>
        </p:txBody>
      </p:sp>
      <p:sp>
        <p:nvSpPr>
          <p:cNvPr id="329" name="Text 38"/>
          <p:cNvSpPr txBox="1"/>
          <p:nvPr/>
        </p:nvSpPr>
        <p:spPr>
          <a:xfrm>
            <a:off x="6958583" y="1104051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Векторная база:</a:t>
            </a:r>
          </a:p>
        </p:txBody>
      </p:sp>
      <p:sp>
        <p:nvSpPr>
          <p:cNvPr id="330" name="Shape 39"/>
          <p:cNvSpPr/>
          <p:nvPr/>
        </p:nvSpPr>
        <p:spPr>
          <a:xfrm>
            <a:off x="6912864" y="1371600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40"/>
          <p:cNvSpPr txBox="1"/>
          <p:nvPr/>
        </p:nvSpPr>
        <p:spPr>
          <a:xfrm>
            <a:off x="6958583" y="1442379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332" name="Shape 41"/>
          <p:cNvSpPr/>
          <p:nvPr/>
        </p:nvSpPr>
        <p:spPr>
          <a:xfrm>
            <a:off x="6912864" y="1792223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42"/>
          <p:cNvSpPr txBox="1"/>
          <p:nvPr/>
        </p:nvSpPr>
        <p:spPr>
          <a:xfrm>
            <a:off x="6958583" y="186300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Механик</a:t>
            </a:r>
          </a:p>
        </p:txBody>
      </p:sp>
      <p:sp>
        <p:nvSpPr>
          <p:cNvPr id="334" name="Shape 43"/>
          <p:cNvSpPr/>
          <p:nvPr/>
        </p:nvSpPr>
        <p:spPr>
          <a:xfrm>
            <a:off x="6912864" y="2212848"/>
            <a:ext cx="1847089" cy="347473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Text 44"/>
          <p:cNvSpPr txBox="1"/>
          <p:nvPr/>
        </p:nvSpPr>
        <p:spPr>
          <a:xfrm>
            <a:off x="6958583" y="2283627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444444"/>
                </a:solidFill>
              </a:defRPr>
            </a:lvl1pPr>
          </a:lstStyle>
          <a:p>
            <a:pPr/>
            <a:r>
              <a:t>Диагност</a:t>
            </a:r>
          </a:p>
        </p:txBody>
      </p:sp>
      <p:sp>
        <p:nvSpPr>
          <p:cNvPr id="336" name="Shape 45"/>
          <p:cNvSpPr/>
          <p:nvPr/>
        </p:nvSpPr>
        <p:spPr>
          <a:xfrm>
            <a:off x="6912864" y="2633472"/>
            <a:ext cx="1847089" cy="347473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46"/>
          <p:cNvSpPr txBox="1"/>
          <p:nvPr/>
        </p:nvSpPr>
        <p:spPr>
          <a:xfrm>
            <a:off x="6958583" y="2704251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Инженер</a:t>
            </a:r>
          </a:p>
        </p:txBody>
      </p:sp>
      <p:sp>
        <p:nvSpPr>
          <p:cNvPr id="338" name="Text 47"/>
          <p:cNvSpPr txBox="1"/>
          <p:nvPr/>
        </p:nvSpPr>
        <p:spPr>
          <a:xfrm>
            <a:off x="6958583" y="3486063"/>
            <a:ext cx="1755649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B3A6B"/>
                </a:solidFill>
              </a:defRPr>
            </a:lvl1pPr>
          </a:lstStyle>
          <a:p>
            <a:pPr/>
            <a:r>
              <a:t>Инструменты:</a:t>
            </a:r>
          </a:p>
        </p:txBody>
      </p:sp>
      <p:sp>
        <p:nvSpPr>
          <p:cNvPr id="339" name="Text 48"/>
          <p:cNvSpPr txBox="1"/>
          <p:nvPr/>
        </p:nvSpPr>
        <p:spPr>
          <a:xfrm>
            <a:off x="6958583" y="3956979"/>
            <a:ext cx="1755649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11111"/>
                </a:solidFill>
              </a:defRPr>
            </a:lvl1pPr>
          </a:lstStyle>
          <a:p>
            <a:pPr/>
            <a:r>
              <a:t>Полный доступ</a:t>
            </a:r>
          </a:p>
        </p:txBody>
      </p:sp>
      <p:sp>
        <p:nvSpPr>
          <p:cNvPr id="340" name="Shape 49"/>
          <p:cNvSpPr/>
          <p:nvPr/>
        </p:nvSpPr>
        <p:spPr>
          <a:xfrm>
            <a:off x="182879" y="4663440"/>
            <a:ext cx="8778242" cy="228601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50"/>
          <p:cNvSpPr txBox="1"/>
          <p:nvPr/>
        </p:nvSpPr>
        <p:spPr>
          <a:xfrm>
            <a:off x="320040" y="4604933"/>
            <a:ext cx="850392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1B3A6B"/>
                </a:solidFill>
              </a:defRPr>
            </a:lvl1pPr>
          </a:lstStyle>
          <a:p>
            <a:pPr/>
            <a:r>
              <a:t>Каждая следующая роль расширяет доступ предыдущей. Раздельные базы — удобно для диагностики: если точность падает у Диагноста, а у Механика в норме → проблема в конкретном модуле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46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Кэширование и голосовой интерфейс</a:t>
            </a:r>
          </a:p>
        </p:txBody>
      </p:sp>
      <p:sp>
        <p:nvSpPr>
          <p:cNvPr id="347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348" name="Shape 5"/>
          <p:cNvSpPr/>
          <p:nvPr/>
        </p:nvSpPr>
        <p:spPr>
          <a:xfrm>
            <a:off x="182879" y="594359"/>
            <a:ext cx="4206242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6"/>
          <p:cNvSpPr txBox="1"/>
          <p:nvPr/>
        </p:nvSpPr>
        <p:spPr>
          <a:xfrm>
            <a:off x="365759" y="726239"/>
            <a:ext cx="3840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Кэширование запросов</a:t>
            </a:r>
          </a:p>
        </p:txBody>
      </p:sp>
      <p:sp>
        <p:nvSpPr>
          <p:cNvPr id="350" name="Text 7"/>
          <p:cNvSpPr txBox="1"/>
          <p:nvPr/>
        </p:nvSpPr>
        <p:spPr>
          <a:xfrm>
            <a:off x="365759" y="2263570"/>
            <a:ext cx="3840481" cy="886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L1 — общий кэш: md5(вопрос) TTL 24ч · все роли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L2 — ролевой кэш: md5(роль+вопрос) TTL 12ч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L3 — embedding: lru_cache(256) · уже реализован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Инвалидация при обновлении модуля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Принудительная очистка: /cache/clear</a:t>
            </a:r>
          </a:p>
        </p:txBody>
      </p:sp>
      <p:sp>
        <p:nvSpPr>
          <p:cNvPr id="351" name="Shape 8"/>
          <p:cNvSpPr/>
          <p:nvPr/>
        </p:nvSpPr>
        <p:spPr>
          <a:xfrm>
            <a:off x="4572000" y="594359"/>
            <a:ext cx="4389121" cy="1828801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9"/>
          <p:cNvSpPr txBox="1"/>
          <p:nvPr/>
        </p:nvSpPr>
        <p:spPr>
          <a:xfrm>
            <a:off x="4754879" y="726239"/>
            <a:ext cx="4023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6A34A"/>
                </a:solidFill>
              </a:defRPr>
            </a:lvl1pPr>
          </a:lstStyle>
          <a:p>
            <a:pPr/>
            <a:r>
              <a:t>Фаза 1 — Чат (готово)</a:t>
            </a:r>
          </a:p>
        </p:txBody>
      </p:sp>
      <p:sp>
        <p:nvSpPr>
          <p:cNvPr id="353" name="Text 10"/>
          <p:cNvSpPr txBox="1"/>
          <p:nvPr/>
        </p:nvSpPr>
        <p:spPr>
          <a:xfrm>
            <a:off x="4754879" y="1377110"/>
            <a:ext cx="402336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LibreChat v3 · порт 3080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Текстовый ввод/вывод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Готов для продуктива</a:t>
            </a:r>
          </a:p>
        </p:txBody>
      </p:sp>
      <p:sp>
        <p:nvSpPr>
          <p:cNvPr id="354" name="Shape 11"/>
          <p:cNvSpPr/>
          <p:nvPr/>
        </p:nvSpPr>
        <p:spPr>
          <a:xfrm>
            <a:off x="4572000" y="2514600"/>
            <a:ext cx="4389121" cy="201167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12"/>
          <p:cNvSpPr txBox="1"/>
          <p:nvPr/>
        </p:nvSpPr>
        <p:spPr>
          <a:xfrm>
            <a:off x="4754879" y="2646479"/>
            <a:ext cx="4023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Фаза 2 — Голос (Цель 2)</a:t>
            </a:r>
          </a:p>
        </p:txBody>
      </p:sp>
      <p:sp>
        <p:nvSpPr>
          <p:cNvPr id="356" name="Text 13"/>
          <p:cNvSpPr txBox="1"/>
          <p:nvPr/>
        </p:nvSpPr>
        <p:spPr>
          <a:xfrm>
            <a:off x="4754879" y="3306240"/>
            <a:ext cx="4023361" cy="72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STT: faster-whisper large-v3 · WER &lt; 5% RU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TTS: XTTS-v2 / Piper TTS · офлайн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Офлайн обязателен — сеть КОМПАКС® изолирована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Поток: Mic → STT → Векторная БД → LLM → TTS → Speaker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61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Следующие шаги</a:t>
            </a:r>
          </a:p>
        </p:txBody>
      </p:sp>
      <p:sp>
        <p:nvSpPr>
          <p:cNvPr id="362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363" name="Shape 5"/>
          <p:cNvSpPr/>
          <p:nvPr/>
        </p:nvSpPr>
        <p:spPr>
          <a:xfrm>
            <a:off x="182879" y="594359"/>
            <a:ext cx="8778242" cy="34747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6"/>
          <p:cNvSpPr txBox="1"/>
          <p:nvPr/>
        </p:nvSpPr>
        <p:spPr>
          <a:xfrm>
            <a:off x="320040" y="638995"/>
            <a:ext cx="850392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Цель 1</a:t>
            </a:r>
          </a:p>
        </p:txBody>
      </p:sp>
      <p:sp>
        <p:nvSpPr>
          <p:cNvPr id="365" name="Shape 7"/>
          <p:cNvSpPr/>
          <p:nvPr/>
        </p:nvSpPr>
        <p:spPr>
          <a:xfrm>
            <a:off x="182879" y="996696"/>
            <a:ext cx="329185" cy="2926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8"/>
          <p:cNvSpPr txBox="1"/>
          <p:nvPr/>
        </p:nvSpPr>
        <p:spPr>
          <a:xfrm>
            <a:off x="228600" y="1028744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7" name="Shape 9"/>
          <p:cNvSpPr/>
          <p:nvPr/>
        </p:nvSpPr>
        <p:spPr>
          <a:xfrm>
            <a:off x="566927" y="996696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10"/>
          <p:cNvSpPr txBox="1"/>
          <p:nvPr/>
        </p:nvSpPr>
        <p:spPr>
          <a:xfrm>
            <a:off x="731520" y="1028744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Разметить векторную базу по ролевым модулям (Оператор / Механик / Диагност / Инженер)</a:t>
            </a:r>
          </a:p>
        </p:txBody>
      </p:sp>
      <p:sp>
        <p:nvSpPr>
          <p:cNvPr id="369" name="Shape 11"/>
          <p:cNvSpPr/>
          <p:nvPr/>
        </p:nvSpPr>
        <p:spPr>
          <a:xfrm>
            <a:off x="182879" y="1344167"/>
            <a:ext cx="329185" cy="2926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12"/>
          <p:cNvSpPr txBox="1"/>
          <p:nvPr/>
        </p:nvSpPr>
        <p:spPr>
          <a:xfrm>
            <a:off x="228600" y="1376216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1" name="Shape 13"/>
          <p:cNvSpPr/>
          <p:nvPr/>
        </p:nvSpPr>
        <p:spPr>
          <a:xfrm>
            <a:off x="566927" y="1344167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14"/>
          <p:cNvSpPr txBox="1"/>
          <p:nvPr/>
        </p:nvSpPr>
        <p:spPr>
          <a:xfrm>
            <a:off x="731520" y="1376216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Ручная категоризация документов перед индексацией</a:t>
            </a:r>
          </a:p>
        </p:txBody>
      </p:sp>
      <p:sp>
        <p:nvSpPr>
          <p:cNvPr id="373" name="Shape 15"/>
          <p:cNvSpPr/>
          <p:nvPr/>
        </p:nvSpPr>
        <p:spPr>
          <a:xfrm>
            <a:off x="182879" y="1691639"/>
            <a:ext cx="329185" cy="2926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16"/>
          <p:cNvSpPr txBox="1"/>
          <p:nvPr/>
        </p:nvSpPr>
        <p:spPr>
          <a:xfrm>
            <a:off x="228600" y="1723688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5" name="Shape 17"/>
          <p:cNvSpPr/>
          <p:nvPr/>
        </p:nvSpPr>
        <p:spPr>
          <a:xfrm>
            <a:off x="566927" y="1691639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8"/>
          <p:cNvSpPr txBox="1"/>
          <p:nvPr/>
        </p:nvSpPr>
        <p:spPr>
          <a:xfrm>
            <a:off x="731520" y="1723688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Внедрить Precision@k и MRR как раздельные метрики</a:t>
            </a:r>
          </a:p>
        </p:txBody>
      </p:sp>
      <p:sp>
        <p:nvSpPr>
          <p:cNvPr id="377" name="Shape 19"/>
          <p:cNvSpPr/>
          <p:nvPr/>
        </p:nvSpPr>
        <p:spPr>
          <a:xfrm>
            <a:off x="182879" y="2039111"/>
            <a:ext cx="329185" cy="2926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20"/>
          <p:cNvSpPr txBox="1"/>
          <p:nvPr/>
        </p:nvSpPr>
        <p:spPr>
          <a:xfrm>
            <a:off x="228600" y="2071160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9" name="Shape 21"/>
          <p:cNvSpPr/>
          <p:nvPr/>
        </p:nvSpPr>
        <p:spPr>
          <a:xfrm>
            <a:off x="566927" y="2039111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22"/>
          <p:cNvSpPr txBox="1"/>
          <p:nvPr/>
        </p:nvSpPr>
        <p:spPr>
          <a:xfrm>
            <a:off x="731520" y="2071160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Достичь LLM-судья ≥ 4.0/5.0 на Golden Set</a:t>
            </a:r>
          </a:p>
        </p:txBody>
      </p:sp>
      <p:sp>
        <p:nvSpPr>
          <p:cNvPr id="381" name="Shape 23"/>
          <p:cNvSpPr/>
          <p:nvPr/>
        </p:nvSpPr>
        <p:spPr>
          <a:xfrm>
            <a:off x="182879" y="2386583"/>
            <a:ext cx="329185" cy="29260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24"/>
          <p:cNvSpPr txBox="1"/>
          <p:nvPr/>
        </p:nvSpPr>
        <p:spPr>
          <a:xfrm>
            <a:off x="228600" y="2418632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3" name="Shape 25"/>
          <p:cNvSpPr/>
          <p:nvPr/>
        </p:nvSpPr>
        <p:spPr>
          <a:xfrm>
            <a:off x="566927" y="2386583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26"/>
          <p:cNvSpPr txBox="1"/>
          <p:nvPr/>
        </p:nvSpPr>
        <p:spPr>
          <a:xfrm>
            <a:off x="731520" y="2418632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Вопросы без ответа → специалисты дают ответы → пополняем базу → повторный прогон</a:t>
            </a:r>
          </a:p>
        </p:txBody>
      </p:sp>
      <p:sp>
        <p:nvSpPr>
          <p:cNvPr id="385" name="Shape 27"/>
          <p:cNvSpPr/>
          <p:nvPr/>
        </p:nvSpPr>
        <p:spPr>
          <a:xfrm>
            <a:off x="182879" y="2953511"/>
            <a:ext cx="8778242" cy="34747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28"/>
          <p:cNvSpPr txBox="1"/>
          <p:nvPr/>
        </p:nvSpPr>
        <p:spPr>
          <a:xfrm>
            <a:off x="320040" y="2998146"/>
            <a:ext cx="850392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Цель 2</a:t>
            </a:r>
          </a:p>
        </p:txBody>
      </p:sp>
      <p:sp>
        <p:nvSpPr>
          <p:cNvPr id="387" name="Shape 29"/>
          <p:cNvSpPr/>
          <p:nvPr/>
        </p:nvSpPr>
        <p:spPr>
          <a:xfrm>
            <a:off x="182879" y="3355847"/>
            <a:ext cx="329185" cy="29260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30"/>
          <p:cNvSpPr txBox="1"/>
          <p:nvPr/>
        </p:nvSpPr>
        <p:spPr>
          <a:xfrm>
            <a:off x="228600" y="3387896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9" name="Shape 31"/>
          <p:cNvSpPr/>
          <p:nvPr/>
        </p:nvSpPr>
        <p:spPr>
          <a:xfrm>
            <a:off x="566927" y="3355847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32"/>
          <p:cNvSpPr txBox="1"/>
          <p:nvPr/>
        </p:nvSpPr>
        <p:spPr>
          <a:xfrm>
            <a:off x="731520" y="3387896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MCP-сервер: /tools и /resources с накопительным ролевым доступом</a:t>
            </a:r>
          </a:p>
        </p:txBody>
      </p:sp>
      <p:sp>
        <p:nvSpPr>
          <p:cNvPr id="391" name="Shape 33"/>
          <p:cNvSpPr/>
          <p:nvPr/>
        </p:nvSpPr>
        <p:spPr>
          <a:xfrm>
            <a:off x="182879" y="3703320"/>
            <a:ext cx="329185" cy="29260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34"/>
          <p:cNvSpPr txBox="1"/>
          <p:nvPr/>
        </p:nvSpPr>
        <p:spPr>
          <a:xfrm>
            <a:off x="228600" y="3735368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3" name="Shape 35"/>
          <p:cNvSpPr/>
          <p:nvPr/>
        </p:nvSpPr>
        <p:spPr>
          <a:xfrm>
            <a:off x="566927" y="3703320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Text 36"/>
          <p:cNvSpPr txBox="1"/>
          <p:nvPr/>
        </p:nvSpPr>
        <p:spPr>
          <a:xfrm>
            <a:off x="731520" y="3735368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Ролевая аутентификация через КОМПАКС 7</a:t>
            </a:r>
          </a:p>
        </p:txBody>
      </p:sp>
      <p:sp>
        <p:nvSpPr>
          <p:cNvPr id="395" name="Shape 37"/>
          <p:cNvSpPr/>
          <p:nvPr/>
        </p:nvSpPr>
        <p:spPr>
          <a:xfrm>
            <a:off x="182879" y="4050791"/>
            <a:ext cx="329185" cy="29260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38"/>
          <p:cNvSpPr txBox="1"/>
          <p:nvPr/>
        </p:nvSpPr>
        <p:spPr>
          <a:xfrm>
            <a:off x="228600" y="4082840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7" name="Shape 39"/>
          <p:cNvSpPr/>
          <p:nvPr/>
        </p:nvSpPr>
        <p:spPr>
          <a:xfrm>
            <a:off x="566927" y="4050791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40"/>
          <p:cNvSpPr txBox="1"/>
          <p:nvPr/>
        </p:nvSpPr>
        <p:spPr>
          <a:xfrm>
            <a:off x="731520" y="4082840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Голосовой модуль: faster-whisper + XTTS-v2</a:t>
            </a:r>
          </a:p>
        </p:txBody>
      </p:sp>
      <p:sp>
        <p:nvSpPr>
          <p:cNvPr id="399" name="Shape 41"/>
          <p:cNvSpPr/>
          <p:nvPr/>
        </p:nvSpPr>
        <p:spPr>
          <a:xfrm>
            <a:off x="182879" y="4398264"/>
            <a:ext cx="329185" cy="29260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42"/>
          <p:cNvSpPr txBox="1"/>
          <p:nvPr/>
        </p:nvSpPr>
        <p:spPr>
          <a:xfrm>
            <a:off x="228600" y="4430312"/>
            <a:ext cx="237745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1" name="Shape 43"/>
          <p:cNvSpPr/>
          <p:nvPr/>
        </p:nvSpPr>
        <p:spPr>
          <a:xfrm>
            <a:off x="566927" y="4398264"/>
            <a:ext cx="8394194" cy="292609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Text 44"/>
          <p:cNvSpPr txBox="1"/>
          <p:nvPr/>
        </p:nvSpPr>
        <p:spPr>
          <a:xfrm>
            <a:off x="731520" y="4430312"/>
            <a:ext cx="81198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11111"/>
                </a:solidFill>
              </a:defRPr>
            </a:lvl1pPr>
          </a:lstStyle>
          <a:p>
            <a:pPr/>
            <a:r>
              <a:t>Функциональные испытания + тест ролевой изоляции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Shape 1"/>
          <p:cNvSpPr/>
          <p:nvPr/>
        </p:nvSpPr>
        <p:spPr>
          <a:xfrm>
            <a:off x="109728" y="-1"/>
            <a:ext cx="502920" cy="50292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6" name="Text 2"/>
          <p:cNvSpPr txBox="1"/>
          <p:nvPr/>
        </p:nvSpPr>
        <p:spPr>
          <a:xfrm>
            <a:off x="155447" y="84915"/>
            <a:ext cx="41148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07" name="Text 3"/>
          <p:cNvSpPr txBox="1"/>
          <p:nvPr/>
        </p:nvSpPr>
        <p:spPr>
          <a:xfrm>
            <a:off x="731519" y="108801"/>
            <a:ext cx="82296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1B3A6B"/>
                </a:solidFill>
              </a:defRPr>
            </a:lvl1pPr>
          </a:lstStyle>
          <a:p>
            <a:pPr/>
            <a:r>
              <a:t>Что нужно согласовать</a:t>
            </a:r>
          </a:p>
        </p:txBody>
      </p:sp>
      <p:sp>
        <p:nvSpPr>
          <p:cNvPr id="408" name="Text 4"/>
          <p:cNvSpPr txBox="1"/>
          <p:nvPr/>
        </p:nvSpPr>
        <p:spPr>
          <a:xfrm>
            <a:off x="182879" y="4889667"/>
            <a:ext cx="877824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Dynamics Scientific · 2026  |  AI-агент для КОМПАКС®  |  v4.0</a:t>
            </a:r>
          </a:p>
        </p:txBody>
      </p:sp>
      <p:sp>
        <p:nvSpPr>
          <p:cNvPr id="409" name="Shape 5"/>
          <p:cNvSpPr/>
          <p:nvPr/>
        </p:nvSpPr>
        <p:spPr>
          <a:xfrm>
            <a:off x="182880" y="594359"/>
            <a:ext cx="4251960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6"/>
          <p:cNvSpPr txBox="1"/>
          <p:nvPr/>
        </p:nvSpPr>
        <p:spPr>
          <a:xfrm>
            <a:off x="365759" y="726239"/>
            <a:ext cx="38862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Решения к принятию</a:t>
            </a:r>
          </a:p>
        </p:txBody>
      </p:sp>
      <p:sp>
        <p:nvSpPr>
          <p:cNvPr id="411" name="Text 7"/>
          <p:cNvSpPr txBox="1"/>
          <p:nvPr/>
        </p:nvSpPr>
        <p:spPr>
          <a:xfrm>
            <a:off x="365759" y="2181020"/>
            <a:ext cx="3886201" cy="1051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Утвердить Golden Set как критерий качества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Ресурс на ручную разметку документации по ролевым модулям (критический путь)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Согласовать матрицу ролей и накопительную модель доступа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Принять решение: локальный vs Cloud ClickHouse</a:t>
            </a:r>
          </a:p>
        </p:txBody>
      </p:sp>
      <p:sp>
        <p:nvSpPr>
          <p:cNvPr id="412" name="Shape 8"/>
          <p:cNvSpPr/>
          <p:nvPr/>
        </p:nvSpPr>
        <p:spPr>
          <a:xfrm>
            <a:off x="4617720" y="594359"/>
            <a:ext cx="4343401" cy="3931922"/>
          </a:xfrm>
          <a:prstGeom prst="rect">
            <a:avLst/>
          </a:prstGeom>
          <a:solidFill>
            <a:srgbClr val="F0F6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9"/>
          <p:cNvSpPr txBox="1"/>
          <p:nvPr/>
        </p:nvSpPr>
        <p:spPr>
          <a:xfrm>
            <a:off x="4800600" y="726239"/>
            <a:ext cx="39776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B3A6B"/>
                </a:solidFill>
              </a:defRPr>
            </a:lvl1pPr>
          </a:lstStyle>
          <a:p>
            <a:pPr/>
            <a:r>
              <a:t>Этапность (итог)</a:t>
            </a:r>
          </a:p>
        </p:txBody>
      </p:sp>
      <p:sp>
        <p:nvSpPr>
          <p:cNvPr id="414" name="Text 10"/>
          <p:cNvSpPr txBox="1"/>
          <p:nvPr/>
        </p:nvSpPr>
        <p:spPr>
          <a:xfrm>
            <a:off x="4800600" y="2346120"/>
            <a:ext cx="3977640" cy="721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Цель 1 — Векторная база (сейчас)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    → выход: LLM-судья ≥ 4.0/5.0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Цель 2 — MCP + накопительные роли + голос</a:t>
            </a:r>
          </a:p>
          <a:p>
            <a:pPr marL="342900" indent="-342900">
              <a:buSzPct val="100000"/>
              <a:buChar char="•"/>
              <a:defRPr sz="1100">
                <a:solidFill>
                  <a:srgbClr val="0D1B2A"/>
                </a:solidFill>
              </a:defRPr>
            </a:pPr>
            <a:r>
              <a:t>    → выход: функц. испытания + ролевая изоляция</a:t>
            </a:r>
          </a:p>
        </p:txBody>
      </p:sp>
      <p:sp>
        <p:nvSpPr>
          <p:cNvPr id="415" name="Shape 11"/>
          <p:cNvSpPr/>
          <p:nvPr/>
        </p:nvSpPr>
        <p:spPr>
          <a:xfrm>
            <a:off x="182879" y="4663440"/>
            <a:ext cx="8778242" cy="274321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12"/>
          <p:cNvSpPr txBox="1"/>
          <p:nvPr/>
        </p:nvSpPr>
        <p:spPr>
          <a:xfrm>
            <a:off x="320040" y="4686344"/>
            <a:ext cx="85039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Dynamics Scientific · 2026  |  Короновский А.А.  |  Согласовано: Богданов Г.В., Сандалов А.А.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